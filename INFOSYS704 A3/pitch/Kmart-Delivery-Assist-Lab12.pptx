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BARRY · 0:00 to 0:15. Good morning. We are here to show the customer face of delivery recovery. The app is open. I will spend most of the five minutes inside it. Title only. Do not read the subtitle.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BARRY · 0:15 to 0:40. Situation only. Kmart has already invested in fulfilment. The sales order, the outbound delivery and the freight order exist. What the customer meets is still a carrier page and a call. Stop. Do not mention the matrix yet.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BARRY · 0:40 to 1:05. Complication. Say the three lines slowly. End on this sentence: the customer cannot finish the recovery, so the order stays an exception. Then go to the resolution.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BARRY · 1:05 to 1:30. Hand over to Huy at the end. Read the six steps only as a path, not as a list to memorise. Point at the screen if the app is already projected. Tell them the demo order is KM185002, the damaged storage box. The cushion in the same order is fine, so a refund is eighteen dollars, not thirty.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HUY · 1:30 to 1:55. Start from the A2 effort-impact result, do not invent a new winner. P2 scored 4.50 and stays the programme. P1 scored 4.10 and waits for shadow evidence. Say why the prototype is Delivery Assist: the API pool has no routing service and no cost dictionary, so the internal foundation cannot be built here. The pool can read the order journey and open a service request. That is the exception the customer feels. A status page with no choice does not recover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HUY · 1:55 to 2:20. This is option 3, not a small wrapper change. Name the five stages once: empathise, define, ideate, prototype, test. Then the models. AS-IS file is design/A3_AS-IS_Customer_Exception.bpmn. TO-BE file is design/A3_TO-BE_Delivery_Assist.bpmn. Say the billing API can read, reject or delete, and cannot create a refund. Do not claim a live refund posting. The write we do have is the service request.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HUY · 2:20 to 2:35. Do not read all ten. Say: status stays visible, the words are the customer’s, a refund asks twice, and a healthy order is not forced into a problem. The other six are on the slide if asked. Hand over to Taariq.</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TAARIQ · 2:35 to 2:55. Twenty seconds. Say: the order data is read live from the SAP sandbox with our API key. The sandbox does not allow writes, so every write is built in the exact SAP format and shown in the app, ready for production. We deployed the API proxy and MCP server in Integration Suite and built the app with OpenCode prompts. Then go to the app.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TAARIQ · 2:55 to 4:05. Leave this slide only if the app is not yet on screen. Preferred: the app is already full screen and you do not linger here. Clicks: Storage box. See the problem. This is the problem. Continue, replacement is already selected. Check for an update. Check again. Review the outcome. Confirm replacement. Open the SAP service request and point at the sales order 450218 and the service request API. If the demo fails, skip to the backup slide (12) and talk through the screenshots. Do not hunt for menus.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TAARIQ · 4:05 to 4:30. Twenty-five seconds, no demo unless asked. Say: Delivery Assist is the customer face. Supply Hub, in the same app, is the buyer side. It catches the same kinds of delivery problems earlier, on the supplier purchase order, using the same SAP API. Mix-Lock reduces the markdown risk before stock is even shipped. Hand back to Barry for the ask.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BARRY · 4:30 to 4:50. Close on the ask, not a summary of every slide. Today the customer can finish the recovery. The heavier routing work stays later. A refund is a decision, not a side effect. Thank them and take one question. Then the disclaimer slide is for the upload, not for a speech.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only. Use it if the app will not load in the lab. Talk through the five screens in under a minute, then go to the ask.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spend speaking time here unless asked. This slide has to be last in the file. UPIs are filled in. Confirm the 34/33/33 split with the whole group. If the split changes, change the percentages so they still total 100.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9144000" cy="365760"/>
          </a:xfrm>
          <a:prstGeom prst="rect">
            <a:avLst/>
          </a:prstGeom>
          <a:noFill/>
        </p:spPr>
        <p:txBody>
          <a:bodyPr wrap="square">
            <a:spAutoFit/>
          </a:bodyPr>
          <a:lstStyle/>
          <a:p>
            <a:pPr algn="l"/>
            <a:r>
              <a:rPr sz="1800" b="1">
                <a:solidFill>
                  <a:srgbClr val="E10600"/>
                </a:solidFill>
                <a:latin typeface="Calibri"/>
              </a:rPr>
              <a:t>KMART</a:t>
            </a:r>
          </a:p>
        </p:txBody>
      </p:sp>
      <p:sp>
        <p:nvSpPr>
          <p:cNvPr id="5" name="TextBox 4"/>
          <p:cNvSpPr txBox="1"/>
          <p:nvPr/>
        </p:nvSpPr>
        <p:spPr>
          <a:xfrm>
            <a:off x="777240" y="1874519"/>
            <a:ext cx="10058400" cy="1280160"/>
          </a:xfrm>
          <a:prstGeom prst="rect">
            <a:avLst/>
          </a:prstGeom>
          <a:noFill/>
        </p:spPr>
        <p:txBody>
          <a:bodyPr wrap="square">
            <a:spAutoFit/>
          </a:bodyPr>
          <a:lstStyle/>
          <a:p>
            <a:pPr algn="l"/>
            <a:r>
              <a:rPr sz="6000" b="1">
                <a:solidFill>
                  <a:srgbClr val="FFFFFF"/>
                </a:solidFill>
                <a:latin typeface="Calibri"/>
              </a:rPr>
              <a:t>Delivery Assist</a:t>
            </a:r>
          </a:p>
        </p:txBody>
      </p:sp>
      <p:sp>
        <p:nvSpPr>
          <p:cNvPr id="6" name="TextBox 5"/>
          <p:cNvSpPr txBox="1"/>
          <p:nvPr/>
        </p:nvSpPr>
        <p:spPr>
          <a:xfrm>
            <a:off x="777240" y="3246120"/>
            <a:ext cx="9144000" cy="1005840"/>
          </a:xfrm>
          <a:prstGeom prst="rect">
            <a:avLst/>
          </a:prstGeom>
          <a:noFill/>
        </p:spPr>
        <p:txBody>
          <a:bodyPr wrap="square">
            <a:spAutoFit/>
          </a:bodyPr>
          <a:lstStyle/>
          <a:p>
            <a:pPr algn="l"/>
            <a:r>
              <a:rPr sz="2400" b="0">
                <a:solidFill>
                  <a:srgbClr val="E6E0D8"/>
                </a:solidFill>
                <a:latin typeface="Calibri"/>
              </a:rPr>
              <a:t>See the order. Understand the problem.
Choose the recovery. Finish it.</a:t>
            </a:r>
          </a:p>
        </p:txBody>
      </p:sp>
      <p:sp>
        <p:nvSpPr>
          <p:cNvPr id="7" name="TextBox 6"/>
          <p:cNvSpPr txBox="1"/>
          <p:nvPr/>
        </p:nvSpPr>
        <p:spPr>
          <a:xfrm>
            <a:off x="777240" y="5212080"/>
            <a:ext cx="9144000" cy="731520"/>
          </a:xfrm>
          <a:prstGeom prst="rect">
            <a:avLst/>
          </a:prstGeom>
          <a:noFill/>
        </p:spPr>
        <p:txBody>
          <a:bodyPr wrap="square">
            <a:spAutoFit/>
          </a:bodyPr>
          <a:lstStyle/>
          <a:p>
            <a:pPr algn="l"/>
            <a:r>
              <a:rPr sz="1600" b="0">
                <a:solidFill>
                  <a:srgbClr val="C8C2BA"/>
                </a:solidFill>
                <a:latin typeface="Calibri"/>
              </a:rPr>
              <a:t>Dingchen Yuan   ·   Taariq Mohamed   ·   Huy Nguyen
WES  ·  SAP Build 13  ·  five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2  /  12</a:t>
            </a:r>
          </a:p>
        </p:txBody>
      </p:sp>
      <p:sp>
        <p:nvSpPr>
          <p:cNvPr id="6" name="TextBox 5"/>
          <p:cNvSpPr txBox="1"/>
          <p:nvPr/>
        </p:nvSpPr>
        <p:spPr>
          <a:xfrm>
            <a:off x="502920" y="320040"/>
            <a:ext cx="3657600" cy="274320"/>
          </a:xfrm>
          <a:prstGeom prst="rect">
            <a:avLst/>
          </a:prstGeom>
          <a:noFill/>
        </p:spPr>
        <p:txBody>
          <a:bodyPr wrap="square">
            <a:spAutoFit/>
          </a:bodyPr>
          <a:lstStyle/>
          <a:p>
            <a:pPr algn="l"/>
            <a:r>
              <a:rPr sz="1400" b="1">
                <a:solidFill>
                  <a:srgbClr val="E10600"/>
                </a:solidFill>
                <a:latin typeface="Calibri"/>
              </a:rPr>
              <a:t>SITUATION</a:t>
            </a:r>
          </a:p>
        </p:txBody>
      </p:sp>
      <p:sp>
        <p:nvSpPr>
          <p:cNvPr id="7" name="TextBox 6"/>
          <p:cNvSpPr txBox="1"/>
          <p:nvPr/>
        </p:nvSpPr>
        <p:spPr>
          <a:xfrm>
            <a:off x="502920" y="685800"/>
            <a:ext cx="10972800" cy="1188720"/>
          </a:xfrm>
          <a:prstGeom prst="rect">
            <a:avLst/>
          </a:prstGeom>
          <a:noFill/>
        </p:spPr>
        <p:txBody>
          <a:bodyPr wrap="square">
            <a:spAutoFit/>
          </a:bodyPr>
          <a:lstStyle/>
          <a:p>
            <a:pPr algn="l"/>
            <a:r>
              <a:rPr sz="3200" b="1">
                <a:solidFill>
                  <a:srgbClr val="1C1B1A"/>
                </a:solidFill>
                <a:latin typeface="Calibri"/>
              </a:rPr>
              <a:t>The order is already in the business.
The customer still cannot see one story.</a:t>
            </a:r>
          </a:p>
        </p:txBody>
      </p:sp>
      <p:sp>
        <p:nvSpPr>
          <p:cNvPr id="8" name="Rectangle 7"/>
          <p:cNvSpPr/>
          <p:nvPr/>
        </p:nvSpPr>
        <p:spPr>
          <a:xfrm>
            <a:off x="502920" y="2880360"/>
            <a:ext cx="3566160" cy="301752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08960"/>
            <a:ext cx="3108960" cy="1188720"/>
          </a:xfrm>
          <a:prstGeom prst="rect">
            <a:avLst/>
          </a:prstGeom>
          <a:noFill/>
        </p:spPr>
        <p:txBody>
          <a:bodyPr wrap="square">
            <a:spAutoFit/>
          </a:bodyPr>
          <a:lstStyle/>
          <a:p>
            <a:pPr algn="l"/>
            <a:r>
              <a:rPr sz="2200" b="1">
                <a:solidFill>
                  <a:srgbClr val="1C1B1A"/>
                </a:solidFill>
                <a:latin typeface="Calibri"/>
              </a:rPr>
              <a:t>Capital is in delivery</a:t>
            </a:r>
          </a:p>
        </p:txBody>
      </p:sp>
      <p:sp>
        <p:nvSpPr>
          <p:cNvPr id="10" name="TextBox 9"/>
          <p:cNvSpPr txBox="1"/>
          <p:nvPr/>
        </p:nvSpPr>
        <p:spPr>
          <a:xfrm>
            <a:off x="731520" y="4389120"/>
            <a:ext cx="3108960" cy="1188720"/>
          </a:xfrm>
          <a:prstGeom prst="rect">
            <a:avLst/>
          </a:prstGeom>
          <a:noFill/>
        </p:spPr>
        <p:txBody>
          <a:bodyPr wrap="square">
            <a:spAutoFit/>
          </a:bodyPr>
          <a:lstStyle/>
          <a:p>
            <a:pPr algn="l"/>
            <a:r>
              <a:rPr sz="1600" b="0">
                <a:solidFill>
                  <a:srgbClr val="5E5A55"/>
                </a:solidFill>
                <a:latin typeface="Calibri"/>
              </a:rPr>
              <a:t>CFCs and the online order system are there to make delivery faster and cheaper.</a:t>
            </a:r>
          </a:p>
        </p:txBody>
      </p:sp>
      <p:sp>
        <p:nvSpPr>
          <p:cNvPr id="11" name="Rectangle 10"/>
          <p:cNvSpPr/>
          <p:nvPr/>
        </p:nvSpPr>
        <p:spPr>
          <a:xfrm>
            <a:off x="4297680" y="2880360"/>
            <a:ext cx="3566160" cy="301752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108960"/>
            <a:ext cx="3108960" cy="1188720"/>
          </a:xfrm>
          <a:prstGeom prst="rect">
            <a:avLst/>
          </a:prstGeom>
          <a:noFill/>
        </p:spPr>
        <p:txBody>
          <a:bodyPr wrap="square">
            <a:spAutoFit/>
          </a:bodyPr>
          <a:lstStyle/>
          <a:p>
            <a:pPr algn="l"/>
            <a:r>
              <a:rPr sz="2200" b="1">
                <a:solidFill>
                  <a:srgbClr val="1C1B1A"/>
                </a:solidFill>
                <a:latin typeface="Calibri"/>
              </a:rPr>
              <a:t>The order has a record</a:t>
            </a:r>
          </a:p>
        </p:txBody>
      </p:sp>
      <p:sp>
        <p:nvSpPr>
          <p:cNvPr id="13" name="TextBox 12"/>
          <p:cNvSpPr txBox="1"/>
          <p:nvPr/>
        </p:nvSpPr>
        <p:spPr>
          <a:xfrm>
            <a:off x="4526280" y="4389120"/>
            <a:ext cx="3108960" cy="1188720"/>
          </a:xfrm>
          <a:prstGeom prst="rect">
            <a:avLst/>
          </a:prstGeom>
          <a:noFill/>
        </p:spPr>
        <p:txBody>
          <a:bodyPr wrap="square">
            <a:spAutoFit/>
          </a:bodyPr>
          <a:lstStyle/>
          <a:p>
            <a:pPr algn="l"/>
            <a:r>
              <a:rPr sz="1600" b="0">
                <a:solidFill>
                  <a:srgbClr val="5E5A55"/>
                </a:solidFill>
                <a:latin typeface="Calibri"/>
              </a:rPr>
              <a:t>A sales order, an outbound delivery and a freight order already describe the journey.</a:t>
            </a:r>
          </a:p>
        </p:txBody>
      </p:sp>
      <p:sp>
        <p:nvSpPr>
          <p:cNvPr id="14" name="Rectangle 13"/>
          <p:cNvSpPr/>
          <p:nvPr/>
        </p:nvSpPr>
        <p:spPr>
          <a:xfrm>
            <a:off x="8092440" y="2880360"/>
            <a:ext cx="3566160" cy="301752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3108960"/>
            <a:ext cx="3108960" cy="1188720"/>
          </a:xfrm>
          <a:prstGeom prst="rect">
            <a:avLst/>
          </a:prstGeom>
          <a:noFill/>
        </p:spPr>
        <p:txBody>
          <a:bodyPr wrap="square">
            <a:spAutoFit/>
          </a:bodyPr>
          <a:lstStyle/>
          <a:p>
            <a:pPr algn="l"/>
            <a:r>
              <a:rPr sz="2200" b="1">
                <a:solidFill>
                  <a:srgbClr val="1C1B1A"/>
                </a:solidFill>
                <a:latin typeface="Calibri"/>
              </a:rPr>
              <a:t>The customer gets fragments</a:t>
            </a:r>
          </a:p>
        </p:txBody>
      </p:sp>
      <p:sp>
        <p:nvSpPr>
          <p:cNvPr id="16" name="TextBox 15"/>
          <p:cNvSpPr txBox="1"/>
          <p:nvPr/>
        </p:nvSpPr>
        <p:spPr>
          <a:xfrm>
            <a:off x="8321040" y="4389120"/>
            <a:ext cx="3108960" cy="1188720"/>
          </a:xfrm>
          <a:prstGeom prst="rect">
            <a:avLst/>
          </a:prstGeom>
          <a:noFill/>
        </p:spPr>
        <p:txBody>
          <a:bodyPr wrap="square">
            <a:spAutoFit/>
          </a:bodyPr>
          <a:lstStyle/>
          <a:p>
            <a:pPr algn="l"/>
            <a:r>
              <a:rPr sz="1600" b="0">
                <a:solidFill>
                  <a:srgbClr val="5E5A55"/>
                </a:solidFill>
                <a:latin typeface="Calibri"/>
              </a:rPr>
              <a:t>A carrier page, then a phone call, then a refund somewhere else.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3  /  12</a:t>
            </a:r>
          </a:p>
        </p:txBody>
      </p:sp>
      <p:sp>
        <p:nvSpPr>
          <p:cNvPr id="6" name="TextBox 5"/>
          <p:cNvSpPr txBox="1"/>
          <p:nvPr/>
        </p:nvSpPr>
        <p:spPr>
          <a:xfrm>
            <a:off x="502920" y="320040"/>
            <a:ext cx="3657600" cy="274320"/>
          </a:xfrm>
          <a:prstGeom prst="rect">
            <a:avLst/>
          </a:prstGeom>
          <a:noFill/>
        </p:spPr>
        <p:txBody>
          <a:bodyPr wrap="square">
            <a:spAutoFit/>
          </a:bodyPr>
          <a:lstStyle/>
          <a:p>
            <a:pPr algn="l"/>
            <a:r>
              <a:rPr sz="1400" b="1">
                <a:solidFill>
                  <a:srgbClr val="E10600"/>
                </a:solidFill>
                <a:latin typeface="Calibri"/>
              </a:rPr>
              <a:t>COMPLICATION</a:t>
            </a:r>
          </a:p>
        </p:txBody>
      </p:sp>
      <p:sp>
        <p:nvSpPr>
          <p:cNvPr id="7" name="TextBox 6"/>
          <p:cNvSpPr txBox="1"/>
          <p:nvPr/>
        </p:nvSpPr>
        <p:spPr>
          <a:xfrm>
            <a:off x="502920" y="685800"/>
            <a:ext cx="10972800" cy="1371600"/>
          </a:xfrm>
          <a:prstGeom prst="rect">
            <a:avLst/>
          </a:prstGeom>
          <a:noFill/>
        </p:spPr>
        <p:txBody>
          <a:bodyPr wrap="square">
            <a:spAutoFit/>
          </a:bodyPr>
          <a:lstStyle/>
          <a:p>
            <a:pPr algn="l"/>
            <a:r>
              <a:rPr sz="3200" b="1">
                <a:solidFill>
                  <a:srgbClr val="1C1B1A"/>
                </a:solidFill>
                <a:latin typeface="Calibri"/>
              </a:rPr>
              <a:t>A failed delivery becomes an exception
nobody closes with the customer.</a:t>
            </a:r>
          </a:p>
        </p:txBody>
      </p:sp>
      <p:sp>
        <p:nvSpPr>
          <p:cNvPr id="8" name="TextBox 7"/>
          <p:cNvSpPr txBox="1"/>
          <p:nvPr/>
        </p:nvSpPr>
        <p:spPr>
          <a:xfrm>
            <a:off x="502920" y="2468880"/>
            <a:ext cx="2926080" cy="731520"/>
          </a:xfrm>
          <a:prstGeom prst="rect">
            <a:avLst/>
          </a:prstGeom>
          <a:noFill/>
        </p:spPr>
        <p:txBody>
          <a:bodyPr wrap="square">
            <a:spAutoFit/>
          </a:bodyPr>
          <a:lstStyle/>
          <a:p>
            <a:pPr algn="l"/>
            <a:r>
              <a:rPr sz="2200" b="1">
                <a:solidFill>
                  <a:srgbClr val="E10600"/>
                </a:solidFill>
                <a:latin typeface="Calibri"/>
              </a:rPr>
              <a:t>The customer</a:t>
            </a:r>
          </a:p>
        </p:txBody>
      </p:sp>
      <p:sp>
        <p:nvSpPr>
          <p:cNvPr id="9" name="TextBox 8"/>
          <p:cNvSpPr txBox="1"/>
          <p:nvPr/>
        </p:nvSpPr>
        <p:spPr>
          <a:xfrm>
            <a:off x="3474720" y="2468880"/>
            <a:ext cx="7863840" cy="822960"/>
          </a:xfrm>
          <a:prstGeom prst="rect">
            <a:avLst/>
          </a:prstGeom>
          <a:noFill/>
        </p:spPr>
        <p:txBody>
          <a:bodyPr wrap="square">
            <a:spAutoFit/>
          </a:bodyPr>
          <a:lstStyle/>
          <a:p>
            <a:pPr algn="l"/>
            <a:r>
              <a:rPr sz="2200" b="0">
                <a:solidFill>
                  <a:srgbClr val="1C1B1A"/>
                </a:solidFill>
                <a:latin typeface="Calibri"/>
              </a:rPr>
              <a:t>Cannot tell a delay from a failed attempt, or choose the next step.</a:t>
            </a:r>
          </a:p>
        </p:txBody>
      </p:sp>
      <p:sp>
        <p:nvSpPr>
          <p:cNvPr id="10" name="TextBox 9"/>
          <p:cNvSpPr txBox="1"/>
          <p:nvPr/>
        </p:nvSpPr>
        <p:spPr>
          <a:xfrm>
            <a:off x="502920" y="3611880"/>
            <a:ext cx="2926080" cy="731520"/>
          </a:xfrm>
          <a:prstGeom prst="rect">
            <a:avLst/>
          </a:prstGeom>
          <a:noFill/>
        </p:spPr>
        <p:txBody>
          <a:bodyPr wrap="square">
            <a:spAutoFit/>
          </a:bodyPr>
          <a:lstStyle/>
          <a:p>
            <a:pPr algn="l"/>
            <a:r>
              <a:rPr sz="2200" b="1">
                <a:solidFill>
                  <a:srgbClr val="E10600"/>
                </a:solidFill>
                <a:latin typeface="Calibri"/>
              </a:rPr>
              <a:t>The order</a:t>
            </a:r>
          </a:p>
        </p:txBody>
      </p:sp>
      <p:sp>
        <p:nvSpPr>
          <p:cNvPr id="11" name="TextBox 10"/>
          <p:cNvSpPr txBox="1"/>
          <p:nvPr/>
        </p:nvSpPr>
        <p:spPr>
          <a:xfrm>
            <a:off x="3474720" y="3611880"/>
            <a:ext cx="7863840" cy="822960"/>
          </a:xfrm>
          <a:prstGeom prst="rect">
            <a:avLst/>
          </a:prstGeom>
          <a:noFill/>
        </p:spPr>
        <p:txBody>
          <a:bodyPr wrap="square">
            <a:spAutoFit/>
          </a:bodyPr>
          <a:lstStyle/>
          <a:p>
            <a:pPr algn="l"/>
            <a:r>
              <a:rPr sz="2200" b="0">
                <a:solidFill>
                  <a:srgbClr val="1C1B1A"/>
                </a:solidFill>
                <a:latin typeface="Calibri"/>
              </a:rPr>
              <a:t>Waits. A redelivery, a collection, a replacement or a refund are separate queues.</a:t>
            </a:r>
          </a:p>
        </p:txBody>
      </p:sp>
      <p:sp>
        <p:nvSpPr>
          <p:cNvPr id="12" name="TextBox 11"/>
          <p:cNvSpPr txBox="1"/>
          <p:nvPr/>
        </p:nvSpPr>
        <p:spPr>
          <a:xfrm>
            <a:off x="502920" y="4754880"/>
            <a:ext cx="2926080" cy="731520"/>
          </a:xfrm>
          <a:prstGeom prst="rect">
            <a:avLst/>
          </a:prstGeom>
          <a:noFill/>
        </p:spPr>
        <p:txBody>
          <a:bodyPr wrap="square">
            <a:spAutoFit/>
          </a:bodyPr>
          <a:lstStyle/>
          <a:p>
            <a:pPr algn="l"/>
            <a:r>
              <a:rPr sz="2200" b="1">
                <a:solidFill>
                  <a:srgbClr val="E10600"/>
                </a:solidFill>
                <a:latin typeface="Calibri"/>
              </a:rPr>
              <a:t>The result</a:t>
            </a:r>
          </a:p>
        </p:txBody>
      </p:sp>
      <p:sp>
        <p:nvSpPr>
          <p:cNvPr id="13" name="TextBox 12"/>
          <p:cNvSpPr txBox="1"/>
          <p:nvPr/>
        </p:nvSpPr>
        <p:spPr>
          <a:xfrm>
            <a:off x="3474720" y="4754880"/>
            <a:ext cx="7863840" cy="822960"/>
          </a:xfrm>
          <a:prstGeom prst="rect">
            <a:avLst/>
          </a:prstGeom>
          <a:noFill/>
        </p:spPr>
        <p:txBody>
          <a:bodyPr wrap="square">
            <a:spAutoFit/>
          </a:bodyPr>
          <a:lstStyle/>
          <a:p>
            <a:pPr algn="l"/>
            <a:r>
              <a:rPr sz="2200" b="0">
                <a:solidFill>
                  <a:srgbClr val="1C1B1A"/>
                </a:solidFill>
                <a:latin typeface="Calibri"/>
              </a:rPr>
              <a:t>Service slips, and a completed order — the outcome the programme protects — is lost.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4  /  12</a:t>
            </a:r>
          </a:p>
        </p:txBody>
      </p:sp>
      <p:sp>
        <p:nvSpPr>
          <p:cNvPr id="6" name="TextBox 5"/>
          <p:cNvSpPr txBox="1"/>
          <p:nvPr/>
        </p:nvSpPr>
        <p:spPr>
          <a:xfrm>
            <a:off x="502920" y="320040"/>
            <a:ext cx="3657600" cy="274320"/>
          </a:xfrm>
          <a:prstGeom prst="rect">
            <a:avLst/>
          </a:prstGeom>
          <a:noFill/>
        </p:spPr>
        <p:txBody>
          <a:bodyPr wrap="square">
            <a:spAutoFit/>
          </a:bodyPr>
          <a:lstStyle/>
          <a:p>
            <a:pPr algn="l"/>
            <a:r>
              <a:rPr sz="1400" b="1">
                <a:solidFill>
                  <a:srgbClr val="E10600"/>
                </a:solidFill>
                <a:latin typeface="Calibri"/>
              </a:rPr>
              <a:t>RESOLUTION</a:t>
            </a:r>
          </a:p>
        </p:txBody>
      </p:sp>
      <p:sp>
        <p:nvSpPr>
          <p:cNvPr id="7" name="TextBox 6"/>
          <p:cNvSpPr txBox="1"/>
          <p:nvPr/>
        </p:nvSpPr>
        <p:spPr>
          <a:xfrm>
            <a:off x="502920" y="640080"/>
            <a:ext cx="10972800" cy="914400"/>
          </a:xfrm>
          <a:prstGeom prst="rect">
            <a:avLst/>
          </a:prstGeom>
          <a:noFill/>
        </p:spPr>
        <p:txBody>
          <a:bodyPr wrap="square">
            <a:spAutoFit/>
          </a:bodyPr>
          <a:lstStyle/>
          <a:p>
            <a:pPr algn="l"/>
            <a:r>
              <a:rPr sz="3200" b="1">
                <a:solidFill>
                  <a:srgbClr val="1C1B1A"/>
                </a:solidFill>
                <a:latin typeface="Calibri"/>
              </a:rPr>
              <a:t>One Kmart journey. One service request.</a:t>
            </a:r>
          </a:p>
        </p:txBody>
      </p:sp>
      <p:sp>
        <p:nvSpPr>
          <p:cNvPr id="8" name="Rectangle 7"/>
          <p:cNvSpPr/>
          <p:nvPr/>
        </p:nvSpPr>
        <p:spPr>
          <a:xfrm>
            <a:off x="457200" y="2286000"/>
            <a:ext cx="1783080" cy="2286000"/>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423160"/>
            <a:ext cx="1554480" cy="365760"/>
          </a:xfrm>
          <a:prstGeom prst="rect">
            <a:avLst/>
          </a:prstGeom>
          <a:noFill/>
        </p:spPr>
        <p:txBody>
          <a:bodyPr wrap="square">
            <a:spAutoFit/>
          </a:bodyPr>
          <a:lstStyle/>
          <a:p>
            <a:pPr algn="l"/>
            <a:r>
              <a:rPr sz="1400" b="1">
                <a:solidFill>
                  <a:srgbClr val="FFFFFF"/>
                </a:solidFill>
                <a:latin typeface="Calibri"/>
              </a:rPr>
              <a:t>01</a:t>
            </a:r>
          </a:p>
        </p:txBody>
      </p:sp>
      <p:sp>
        <p:nvSpPr>
          <p:cNvPr id="10" name="TextBox 9"/>
          <p:cNvSpPr txBox="1"/>
          <p:nvPr/>
        </p:nvSpPr>
        <p:spPr>
          <a:xfrm>
            <a:off x="566928" y="2880360"/>
            <a:ext cx="1554480" cy="1371600"/>
          </a:xfrm>
          <a:prstGeom prst="rect">
            <a:avLst/>
          </a:prstGeom>
          <a:noFill/>
        </p:spPr>
        <p:txBody>
          <a:bodyPr wrap="square">
            <a:spAutoFit/>
          </a:bodyPr>
          <a:lstStyle/>
          <a:p>
            <a:pPr algn="l"/>
            <a:r>
              <a:rPr sz="1600" b="1">
                <a:solidFill>
                  <a:srgbClr val="FFFFFF"/>
                </a:solidFill>
                <a:latin typeface="Calibri"/>
              </a:rPr>
              <a:t>Track my
order</a:t>
            </a:r>
          </a:p>
        </p:txBody>
      </p:sp>
      <p:sp>
        <p:nvSpPr>
          <p:cNvPr id="11" name="Rectangle 10"/>
          <p:cNvSpPr/>
          <p:nvPr/>
        </p:nvSpPr>
        <p:spPr>
          <a:xfrm>
            <a:off x="2395728" y="2286000"/>
            <a:ext cx="1783080" cy="228600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05456" y="2423160"/>
            <a:ext cx="1554480" cy="365760"/>
          </a:xfrm>
          <a:prstGeom prst="rect">
            <a:avLst/>
          </a:prstGeom>
          <a:noFill/>
        </p:spPr>
        <p:txBody>
          <a:bodyPr wrap="square">
            <a:spAutoFit/>
          </a:bodyPr>
          <a:lstStyle/>
          <a:p>
            <a:pPr algn="l"/>
            <a:r>
              <a:rPr sz="1400" b="1">
                <a:solidFill>
                  <a:srgbClr val="E10600"/>
                </a:solidFill>
                <a:latin typeface="Calibri"/>
              </a:rPr>
              <a:t>02</a:t>
            </a:r>
          </a:p>
        </p:txBody>
      </p:sp>
      <p:sp>
        <p:nvSpPr>
          <p:cNvPr id="13" name="TextBox 12"/>
          <p:cNvSpPr txBox="1"/>
          <p:nvPr/>
        </p:nvSpPr>
        <p:spPr>
          <a:xfrm>
            <a:off x="2505456" y="2880360"/>
            <a:ext cx="1554480" cy="1371600"/>
          </a:xfrm>
          <a:prstGeom prst="rect">
            <a:avLst/>
          </a:prstGeom>
          <a:noFill/>
        </p:spPr>
        <p:txBody>
          <a:bodyPr wrap="square">
            <a:spAutoFit/>
          </a:bodyPr>
          <a:lstStyle/>
          <a:p>
            <a:pPr algn="l"/>
            <a:r>
              <a:rPr sz="1600" b="1">
                <a:solidFill>
                  <a:srgbClr val="1C1B1A"/>
                </a:solidFill>
                <a:latin typeface="Calibri"/>
              </a:rPr>
              <a:t>Understand
what is happening</a:t>
            </a:r>
          </a:p>
        </p:txBody>
      </p:sp>
      <p:sp>
        <p:nvSpPr>
          <p:cNvPr id="14" name="Rectangle 13"/>
          <p:cNvSpPr/>
          <p:nvPr/>
        </p:nvSpPr>
        <p:spPr>
          <a:xfrm>
            <a:off x="4334256" y="2286000"/>
            <a:ext cx="1783080" cy="228600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3984" y="2423160"/>
            <a:ext cx="1554480" cy="365760"/>
          </a:xfrm>
          <a:prstGeom prst="rect">
            <a:avLst/>
          </a:prstGeom>
          <a:noFill/>
        </p:spPr>
        <p:txBody>
          <a:bodyPr wrap="square">
            <a:spAutoFit/>
          </a:bodyPr>
          <a:lstStyle/>
          <a:p>
            <a:pPr algn="l"/>
            <a:r>
              <a:rPr sz="1400" b="1">
                <a:solidFill>
                  <a:srgbClr val="E10600"/>
                </a:solidFill>
                <a:latin typeface="Calibri"/>
              </a:rPr>
              <a:t>03</a:t>
            </a:r>
          </a:p>
        </p:txBody>
      </p:sp>
      <p:sp>
        <p:nvSpPr>
          <p:cNvPr id="16" name="TextBox 15"/>
          <p:cNvSpPr txBox="1"/>
          <p:nvPr/>
        </p:nvSpPr>
        <p:spPr>
          <a:xfrm>
            <a:off x="4443984" y="2880360"/>
            <a:ext cx="1554480" cy="1371600"/>
          </a:xfrm>
          <a:prstGeom prst="rect">
            <a:avLst/>
          </a:prstGeom>
          <a:noFill/>
        </p:spPr>
        <p:txBody>
          <a:bodyPr wrap="square">
            <a:spAutoFit/>
          </a:bodyPr>
          <a:lstStyle/>
          <a:p>
            <a:pPr algn="l"/>
            <a:r>
              <a:rPr sz="1600" b="1">
                <a:solidFill>
                  <a:srgbClr val="1C1B1A"/>
                </a:solidFill>
                <a:latin typeface="Calibri"/>
              </a:rPr>
              <a:t>Identify the
problem</a:t>
            </a:r>
          </a:p>
        </p:txBody>
      </p:sp>
      <p:sp>
        <p:nvSpPr>
          <p:cNvPr id="17" name="Rectangle 16"/>
          <p:cNvSpPr/>
          <p:nvPr/>
        </p:nvSpPr>
        <p:spPr>
          <a:xfrm>
            <a:off x="6272784" y="2286000"/>
            <a:ext cx="1783080" cy="228600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2423160"/>
            <a:ext cx="1554480" cy="365760"/>
          </a:xfrm>
          <a:prstGeom prst="rect">
            <a:avLst/>
          </a:prstGeom>
          <a:noFill/>
        </p:spPr>
        <p:txBody>
          <a:bodyPr wrap="square">
            <a:spAutoFit/>
          </a:bodyPr>
          <a:lstStyle/>
          <a:p>
            <a:pPr algn="l"/>
            <a:r>
              <a:rPr sz="1400" b="1">
                <a:solidFill>
                  <a:srgbClr val="E10600"/>
                </a:solidFill>
                <a:latin typeface="Calibri"/>
              </a:rPr>
              <a:t>04</a:t>
            </a:r>
          </a:p>
        </p:txBody>
      </p:sp>
      <p:sp>
        <p:nvSpPr>
          <p:cNvPr id="19" name="TextBox 18"/>
          <p:cNvSpPr txBox="1"/>
          <p:nvPr/>
        </p:nvSpPr>
        <p:spPr>
          <a:xfrm>
            <a:off x="6382512" y="2880360"/>
            <a:ext cx="1554480" cy="1371600"/>
          </a:xfrm>
          <a:prstGeom prst="rect">
            <a:avLst/>
          </a:prstGeom>
          <a:noFill/>
        </p:spPr>
        <p:txBody>
          <a:bodyPr wrap="square">
            <a:spAutoFit/>
          </a:bodyPr>
          <a:lstStyle/>
          <a:p>
            <a:pPr algn="l"/>
            <a:r>
              <a:rPr sz="1600" b="1">
                <a:solidFill>
                  <a:srgbClr val="1C1B1A"/>
                </a:solidFill>
                <a:latin typeface="Calibri"/>
              </a:rPr>
              <a:t>Choose
what to do</a:t>
            </a:r>
          </a:p>
        </p:txBody>
      </p:sp>
      <p:sp>
        <p:nvSpPr>
          <p:cNvPr id="20" name="Rectangle 19"/>
          <p:cNvSpPr/>
          <p:nvPr/>
        </p:nvSpPr>
        <p:spPr>
          <a:xfrm>
            <a:off x="8211312" y="2286000"/>
            <a:ext cx="1783080" cy="228600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2423160"/>
            <a:ext cx="1554480" cy="365760"/>
          </a:xfrm>
          <a:prstGeom prst="rect">
            <a:avLst/>
          </a:prstGeom>
          <a:noFill/>
        </p:spPr>
        <p:txBody>
          <a:bodyPr wrap="square">
            <a:spAutoFit/>
          </a:bodyPr>
          <a:lstStyle/>
          <a:p>
            <a:pPr algn="l"/>
            <a:r>
              <a:rPr sz="1400" b="1">
                <a:solidFill>
                  <a:srgbClr val="E10600"/>
                </a:solidFill>
                <a:latin typeface="Calibri"/>
              </a:rPr>
              <a:t>05</a:t>
            </a:r>
          </a:p>
        </p:txBody>
      </p:sp>
      <p:sp>
        <p:nvSpPr>
          <p:cNvPr id="22" name="TextBox 21"/>
          <p:cNvSpPr txBox="1"/>
          <p:nvPr/>
        </p:nvSpPr>
        <p:spPr>
          <a:xfrm>
            <a:off x="8321040" y="2880360"/>
            <a:ext cx="1554480" cy="1371600"/>
          </a:xfrm>
          <a:prstGeom prst="rect">
            <a:avLst/>
          </a:prstGeom>
          <a:noFill/>
        </p:spPr>
        <p:txBody>
          <a:bodyPr wrap="square">
            <a:spAutoFit/>
          </a:bodyPr>
          <a:lstStyle/>
          <a:p>
            <a:pPr algn="l"/>
            <a:r>
              <a:rPr sz="1600" b="1">
                <a:solidFill>
                  <a:srgbClr val="1C1B1A"/>
                </a:solidFill>
                <a:latin typeface="Calibri"/>
              </a:rPr>
              <a:t>Track the
recovery</a:t>
            </a:r>
          </a:p>
        </p:txBody>
      </p:sp>
      <p:sp>
        <p:nvSpPr>
          <p:cNvPr id="23" name="Rectangle 22"/>
          <p:cNvSpPr/>
          <p:nvPr/>
        </p:nvSpPr>
        <p:spPr>
          <a:xfrm>
            <a:off x="10149840" y="2286000"/>
            <a:ext cx="1783080" cy="228600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59568" y="2423160"/>
            <a:ext cx="1554480" cy="365760"/>
          </a:xfrm>
          <a:prstGeom prst="rect">
            <a:avLst/>
          </a:prstGeom>
          <a:noFill/>
        </p:spPr>
        <p:txBody>
          <a:bodyPr wrap="square">
            <a:spAutoFit/>
          </a:bodyPr>
          <a:lstStyle/>
          <a:p>
            <a:pPr algn="l"/>
            <a:r>
              <a:rPr sz="1400" b="1">
                <a:solidFill>
                  <a:srgbClr val="E10600"/>
                </a:solidFill>
                <a:latin typeface="Calibri"/>
              </a:rPr>
              <a:t>06</a:t>
            </a:r>
          </a:p>
        </p:txBody>
      </p:sp>
      <p:sp>
        <p:nvSpPr>
          <p:cNvPr id="25" name="TextBox 24"/>
          <p:cNvSpPr txBox="1"/>
          <p:nvPr/>
        </p:nvSpPr>
        <p:spPr>
          <a:xfrm>
            <a:off x="10259568" y="2880360"/>
            <a:ext cx="1554480" cy="1371600"/>
          </a:xfrm>
          <a:prstGeom prst="rect">
            <a:avLst/>
          </a:prstGeom>
          <a:noFill/>
        </p:spPr>
        <p:txBody>
          <a:bodyPr wrap="square">
            <a:spAutoFit/>
          </a:bodyPr>
          <a:lstStyle/>
          <a:p>
            <a:pPr algn="l"/>
            <a:r>
              <a:rPr sz="1600" b="1">
                <a:solidFill>
                  <a:srgbClr val="1C1B1A"/>
                </a:solidFill>
                <a:latin typeface="Calibri"/>
              </a:rPr>
              <a:t>Complete
refund/replacement</a:t>
            </a:r>
          </a:p>
        </p:txBody>
      </p:sp>
      <p:sp>
        <p:nvSpPr>
          <p:cNvPr id="26" name="TextBox 25"/>
          <p:cNvSpPr txBox="1"/>
          <p:nvPr/>
        </p:nvSpPr>
        <p:spPr>
          <a:xfrm>
            <a:off x="502920" y="4937760"/>
            <a:ext cx="10972800" cy="1097280"/>
          </a:xfrm>
          <a:prstGeom prst="rect">
            <a:avLst/>
          </a:prstGeom>
          <a:noFill/>
        </p:spPr>
        <p:txBody>
          <a:bodyPr wrap="square">
            <a:spAutoFit/>
          </a:bodyPr>
          <a:lstStyle/>
          <a:p>
            <a:pPr algn="l"/>
            <a:r>
              <a:rPr sz="2000" b="0">
                <a:solidFill>
                  <a:srgbClr val="5E5A55"/>
                </a:solidFill>
                <a:latin typeface="Calibri"/>
              </a:rPr>
              <a:t>The customer stays in Kmart. The case is a SAP service request on the sales order.
Demo order KM185002 — the damaged storage box.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5  /  12</a:t>
            </a:r>
          </a:p>
        </p:txBody>
      </p:sp>
      <p:sp>
        <p:nvSpPr>
          <p:cNvPr id="6" name="TextBox 5"/>
          <p:cNvSpPr txBox="1"/>
          <p:nvPr/>
        </p:nvSpPr>
        <p:spPr>
          <a:xfrm>
            <a:off x="502920" y="320040"/>
            <a:ext cx="7315200" cy="274320"/>
          </a:xfrm>
          <a:prstGeom prst="rect">
            <a:avLst/>
          </a:prstGeom>
          <a:noFill/>
        </p:spPr>
        <p:txBody>
          <a:bodyPr wrap="square">
            <a:spAutoFit/>
          </a:bodyPr>
          <a:lstStyle/>
          <a:p>
            <a:pPr algn="l"/>
            <a:r>
              <a:rPr sz="1400" b="1">
                <a:solidFill>
                  <a:srgbClr val="E10600"/>
                </a:solidFill>
                <a:latin typeface="Calibri"/>
              </a:rPr>
              <a:t>WHY THIS SOLUTION</a:t>
            </a:r>
          </a:p>
        </p:txBody>
      </p:sp>
      <p:sp>
        <p:nvSpPr>
          <p:cNvPr id="7" name="TextBox 6"/>
          <p:cNvSpPr txBox="1"/>
          <p:nvPr/>
        </p:nvSpPr>
        <p:spPr>
          <a:xfrm>
            <a:off x="502920" y="640080"/>
            <a:ext cx="10972800" cy="822960"/>
          </a:xfrm>
          <a:prstGeom prst="rect">
            <a:avLst/>
          </a:prstGeom>
          <a:noFill/>
        </p:spPr>
        <p:txBody>
          <a:bodyPr wrap="square">
            <a:spAutoFit/>
          </a:bodyPr>
          <a:lstStyle/>
          <a:p>
            <a:pPr algn="l"/>
            <a:r>
              <a:rPr sz="2800" b="1">
                <a:solidFill>
                  <a:srgbClr val="1C1B1A"/>
                </a:solidFill>
                <a:latin typeface="Calibri"/>
              </a:rPr>
              <a:t>A2 chose the data foundation first.
This pool can run the customer recovery.</a:t>
            </a:r>
          </a:p>
        </p:txBody>
      </p:sp>
      <p:sp>
        <p:nvSpPr>
          <p:cNvPr id="8" name="Rectangle 7"/>
          <p:cNvSpPr/>
          <p:nvPr/>
        </p:nvSpPr>
        <p:spPr>
          <a:xfrm>
            <a:off x="502920" y="1645920"/>
            <a:ext cx="5440680" cy="201168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28800"/>
            <a:ext cx="4846320" cy="320040"/>
          </a:xfrm>
          <a:prstGeom prst="rect">
            <a:avLst/>
          </a:prstGeom>
          <a:noFill/>
        </p:spPr>
        <p:txBody>
          <a:bodyPr wrap="square">
            <a:spAutoFit/>
          </a:bodyPr>
          <a:lstStyle/>
          <a:p>
            <a:pPr algn="l"/>
            <a:r>
              <a:rPr sz="1300" b="1">
                <a:solidFill>
                  <a:srgbClr val="E10600"/>
                </a:solidFill>
                <a:latin typeface="Calibri"/>
              </a:rPr>
              <a:t>A2, DO FIRST</a:t>
            </a:r>
          </a:p>
        </p:txBody>
      </p:sp>
      <p:sp>
        <p:nvSpPr>
          <p:cNvPr id="10" name="TextBox 9"/>
          <p:cNvSpPr txBox="1"/>
          <p:nvPr/>
        </p:nvSpPr>
        <p:spPr>
          <a:xfrm>
            <a:off x="777240" y="2194560"/>
            <a:ext cx="4846320" cy="1280160"/>
          </a:xfrm>
          <a:prstGeom prst="rect">
            <a:avLst/>
          </a:prstGeom>
          <a:noFill/>
        </p:spPr>
        <p:txBody>
          <a:bodyPr wrap="square">
            <a:spAutoFit/>
          </a:bodyPr>
          <a:lstStyle/>
          <a:p>
            <a:pPr algn="l"/>
            <a:r>
              <a:rPr sz="2000" b="1">
                <a:solidFill>
                  <a:srgbClr val="1C1B1A"/>
                </a:solidFill>
                <a:latin typeface="Calibri"/>
              </a:rPr>
              <a:t>P2 decision data
Weighted 4.50.
Needs OMS, WMS, TMS and Finance.</a:t>
            </a:r>
          </a:p>
        </p:txBody>
      </p:sp>
      <p:sp>
        <p:nvSpPr>
          <p:cNvPr id="11" name="Rectangle 10"/>
          <p:cNvSpPr/>
          <p:nvPr/>
        </p:nvSpPr>
        <p:spPr>
          <a:xfrm>
            <a:off x="6172200" y="1645920"/>
            <a:ext cx="5440680" cy="2011680"/>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828800"/>
            <a:ext cx="4846320" cy="320040"/>
          </a:xfrm>
          <a:prstGeom prst="rect">
            <a:avLst/>
          </a:prstGeom>
          <a:noFill/>
        </p:spPr>
        <p:txBody>
          <a:bodyPr wrap="square">
            <a:spAutoFit/>
          </a:bodyPr>
          <a:lstStyle/>
          <a:p>
            <a:pPr algn="l"/>
            <a:r>
              <a:rPr sz="1300" b="1">
                <a:solidFill>
                  <a:srgbClr val="FFFFFF"/>
                </a:solidFill>
                <a:latin typeface="Calibri"/>
              </a:rPr>
              <a:t>PROTOTYPE NOW</a:t>
            </a:r>
          </a:p>
        </p:txBody>
      </p:sp>
      <p:sp>
        <p:nvSpPr>
          <p:cNvPr id="13" name="TextBox 12"/>
          <p:cNvSpPr txBox="1"/>
          <p:nvPr/>
        </p:nvSpPr>
        <p:spPr>
          <a:xfrm>
            <a:off x="6446520" y="2194560"/>
            <a:ext cx="4846320" cy="1280160"/>
          </a:xfrm>
          <a:prstGeom prst="rect">
            <a:avLst/>
          </a:prstGeom>
          <a:noFill/>
        </p:spPr>
        <p:txBody>
          <a:bodyPr wrap="square">
            <a:spAutoFit/>
          </a:bodyPr>
          <a:lstStyle/>
          <a:p>
            <a:pPr algn="l"/>
            <a:r>
              <a:rPr sz="2000" b="1">
                <a:solidFill>
                  <a:srgbClr val="FFFFFF"/>
                </a:solidFill>
                <a:latin typeface="Calibri"/>
              </a:rPr>
              <a:t>Delivery Assist
Same exception goal.
Sales order, delivery, freight, service request.</a:t>
            </a:r>
          </a:p>
        </p:txBody>
      </p:sp>
      <p:sp>
        <p:nvSpPr>
          <p:cNvPr id="14" name="Rectangle 13"/>
          <p:cNvSpPr/>
          <p:nvPr/>
        </p:nvSpPr>
        <p:spPr>
          <a:xfrm>
            <a:off x="502920" y="3794760"/>
            <a:ext cx="544068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977640"/>
            <a:ext cx="4846320" cy="320040"/>
          </a:xfrm>
          <a:prstGeom prst="rect">
            <a:avLst/>
          </a:prstGeom>
          <a:noFill/>
        </p:spPr>
        <p:txBody>
          <a:bodyPr wrap="square">
            <a:spAutoFit/>
          </a:bodyPr>
          <a:lstStyle/>
          <a:p>
            <a:pPr algn="l"/>
            <a:r>
              <a:rPr sz="1300" b="1">
                <a:solidFill>
                  <a:srgbClr val="E10600"/>
                </a:solidFill>
                <a:latin typeface="Calibri"/>
              </a:rPr>
              <a:t>A2, LATER</a:t>
            </a:r>
          </a:p>
        </p:txBody>
      </p:sp>
      <p:sp>
        <p:nvSpPr>
          <p:cNvPr id="16" name="TextBox 15"/>
          <p:cNvSpPr txBox="1"/>
          <p:nvPr/>
        </p:nvSpPr>
        <p:spPr>
          <a:xfrm>
            <a:off x="777240" y="4343400"/>
            <a:ext cx="4846320" cy="1280160"/>
          </a:xfrm>
          <a:prstGeom prst="rect">
            <a:avLst/>
          </a:prstGeom>
          <a:noFill/>
        </p:spPr>
        <p:txBody>
          <a:bodyPr wrap="square">
            <a:spAutoFit/>
          </a:bodyPr>
          <a:lstStyle/>
          <a:p>
            <a:pPr algn="l"/>
            <a:r>
              <a:rPr sz="2000" b="1">
                <a:solidFill>
                  <a:srgbClr val="1C1B1A"/>
                </a:solidFill>
                <a:latin typeface="Calibri"/>
              </a:rPr>
              <a:t>P1 routing automation
Weighted 4.10.
Only after shadow evidence.</a:t>
            </a:r>
          </a:p>
        </p:txBody>
      </p:sp>
      <p:sp>
        <p:nvSpPr>
          <p:cNvPr id="17" name="Rectangle 16"/>
          <p:cNvSpPr/>
          <p:nvPr/>
        </p:nvSpPr>
        <p:spPr>
          <a:xfrm>
            <a:off x="6172200" y="3794760"/>
            <a:ext cx="5440680" cy="201168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977640"/>
            <a:ext cx="4846320" cy="320040"/>
          </a:xfrm>
          <a:prstGeom prst="rect">
            <a:avLst/>
          </a:prstGeom>
          <a:noFill/>
        </p:spPr>
        <p:txBody>
          <a:bodyPr wrap="square">
            <a:spAutoFit/>
          </a:bodyPr>
          <a:lstStyle/>
          <a:p>
            <a:pPr algn="l"/>
            <a:r>
              <a:rPr sz="1300" b="1">
                <a:solidFill>
                  <a:srgbClr val="E10600"/>
                </a:solidFill>
                <a:latin typeface="Calibri"/>
              </a:rPr>
              <a:t>NOT ENOUGH</a:t>
            </a:r>
          </a:p>
        </p:txBody>
      </p:sp>
      <p:sp>
        <p:nvSpPr>
          <p:cNvPr id="19" name="TextBox 18"/>
          <p:cNvSpPr txBox="1"/>
          <p:nvPr/>
        </p:nvSpPr>
        <p:spPr>
          <a:xfrm>
            <a:off x="6446520" y="4343400"/>
            <a:ext cx="4846320" cy="1280160"/>
          </a:xfrm>
          <a:prstGeom prst="rect">
            <a:avLst/>
          </a:prstGeom>
          <a:noFill/>
        </p:spPr>
        <p:txBody>
          <a:bodyPr wrap="square">
            <a:spAutoFit/>
          </a:bodyPr>
          <a:lstStyle/>
          <a:p>
            <a:pPr algn="l"/>
            <a:r>
              <a:rPr sz="2000" b="1">
                <a:solidFill>
                  <a:srgbClr val="1C1B1A"/>
                </a:solidFill>
                <a:latin typeface="Calibri"/>
              </a:rPr>
              <a:t>A status page with no recovery
Low effort, low impact.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6  /  12</a:t>
            </a:r>
          </a:p>
        </p:txBody>
      </p:sp>
      <p:sp>
        <p:nvSpPr>
          <p:cNvPr id="6" name="TextBox 5"/>
          <p:cNvSpPr txBox="1"/>
          <p:nvPr/>
        </p:nvSpPr>
        <p:spPr>
          <a:xfrm>
            <a:off x="502920" y="320040"/>
            <a:ext cx="7315200" cy="274320"/>
          </a:xfrm>
          <a:prstGeom prst="rect">
            <a:avLst/>
          </a:prstGeom>
          <a:noFill/>
        </p:spPr>
        <p:txBody>
          <a:bodyPr wrap="square">
            <a:spAutoFit/>
          </a:bodyPr>
          <a:lstStyle/>
          <a:p>
            <a:pPr algn="l"/>
            <a:r>
              <a:rPr sz="1400" b="1">
                <a:solidFill>
                  <a:srgbClr val="E10600"/>
                </a:solidFill>
                <a:latin typeface="Calibri"/>
              </a:rPr>
              <a:t>DESIGN  ·  OPTION 3</a:t>
            </a:r>
          </a:p>
        </p:txBody>
      </p:sp>
      <p:sp>
        <p:nvSpPr>
          <p:cNvPr id="7" name="TextBox 6"/>
          <p:cNvSpPr txBox="1"/>
          <p:nvPr/>
        </p:nvSpPr>
        <p:spPr>
          <a:xfrm>
            <a:off x="502920" y="640080"/>
            <a:ext cx="10972800" cy="548640"/>
          </a:xfrm>
          <a:prstGeom prst="rect">
            <a:avLst/>
          </a:prstGeom>
          <a:noFill/>
        </p:spPr>
        <p:txBody>
          <a:bodyPr wrap="square">
            <a:spAutoFit/>
          </a:bodyPr>
          <a:lstStyle/>
          <a:p>
            <a:pPr algn="l"/>
            <a:r>
              <a:rPr sz="2600" b="1">
                <a:solidFill>
                  <a:srgbClr val="1C1B1A"/>
                </a:solidFill>
                <a:latin typeface="Calibri"/>
              </a:rPr>
              <a:t>The solution changed. The new models are in the prototype.</a:t>
            </a:r>
          </a:p>
        </p:txBody>
      </p:sp>
      <p:sp>
        <p:nvSpPr>
          <p:cNvPr id="8" name="TextBox 7"/>
          <p:cNvSpPr txBox="1"/>
          <p:nvPr/>
        </p:nvSpPr>
        <p:spPr>
          <a:xfrm>
            <a:off x="502920" y="1417320"/>
            <a:ext cx="2103120" cy="457200"/>
          </a:xfrm>
          <a:prstGeom prst="rect">
            <a:avLst/>
          </a:prstGeom>
          <a:noFill/>
        </p:spPr>
        <p:txBody>
          <a:bodyPr wrap="square">
            <a:spAutoFit/>
          </a:bodyPr>
          <a:lstStyle/>
          <a:p>
            <a:pPr algn="l"/>
            <a:r>
              <a:rPr sz="1800" b="1">
                <a:solidFill>
                  <a:srgbClr val="E10600"/>
                </a:solidFill>
                <a:latin typeface="Calibri"/>
              </a:rPr>
              <a:t>Empathise</a:t>
            </a:r>
          </a:p>
        </p:txBody>
      </p:sp>
      <p:sp>
        <p:nvSpPr>
          <p:cNvPr id="9" name="TextBox 8"/>
          <p:cNvSpPr txBox="1"/>
          <p:nvPr/>
        </p:nvSpPr>
        <p:spPr>
          <a:xfrm>
            <a:off x="2651760" y="1417320"/>
            <a:ext cx="3931920" cy="457200"/>
          </a:xfrm>
          <a:prstGeom prst="rect">
            <a:avLst/>
          </a:prstGeom>
          <a:noFill/>
        </p:spPr>
        <p:txBody>
          <a:bodyPr wrap="square">
            <a:spAutoFit/>
          </a:bodyPr>
          <a:lstStyle/>
          <a:p>
            <a:pPr algn="l"/>
            <a:r>
              <a:rPr sz="1800" b="0">
                <a:solidFill>
                  <a:srgbClr val="1C1B1A"/>
                </a:solidFill>
                <a:latin typeface="Calibri"/>
              </a:rPr>
              <a:t>A failed delivery is a dead end.</a:t>
            </a:r>
          </a:p>
        </p:txBody>
      </p:sp>
      <p:sp>
        <p:nvSpPr>
          <p:cNvPr id="10" name="TextBox 9"/>
          <p:cNvSpPr txBox="1"/>
          <p:nvPr/>
        </p:nvSpPr>
        <p:spPr>
          <a:xfrm>
            <a:off x="502920" y="2075688"/>
            <a:ext cx="2103120" cy="457200"/>
          </a:xfrm>
          <a:prstGeom prst="rect">
            <a:avLst/>
          </a:prstGeom>
          <a:noFill/>
        </p:spPr>
        <p:txBody>
          <a:bodyPr wrap="square">
            <a:spAutoFit/>
          </a:bodyPr>
          <a:lstStyle/>
          <a:p>
            <a:pPr algn="l"/>
            <a:r>
              <a:rPr sz="1800" b="1">
                <a:solidFill>
                  <a:srgbClr val="E10600"/>
                </a:solidFill>
                <a:latin typeface="Calibri"/>
              </a:rPr>
              <a:t>Define</a:t>
            </a:r>
          </a:p>
        </p:txBody>
      </p:sp>
      <p:sp>
        <p:nvSpPr>
          <p:cNvPr id="11" name="TextBox 10"/>
          <p:cNvSpPr txBox="1"/>
          <p:nvPr/>
        </p:nvSpPr>
        <p:spPr>
          <a:xfrm>
            <a:off x="2651760" y="2075688"/>
            <a:ext cx="3931920" cy="457200"/>
          </a:xfrm>
          <a:prstGeom prst="rect">
            <a:avLst/>
          </a:prstGeom>
          <a:noFill/>
        </p:spPr>
        <p:txBody>
          <a:bodyPr wrap="square">
            <a:spAutoFit/>
          </a:bodyPr>
          <a:lstStyle/>
          <a:p>
            <a:pPr algn="l"/>
            <a:r>
              <a:rPr sz="1800" b="0">
                <a:solidFill>
                  <a:srgbClr val="1C1B1A"/>
                </a:solidFill>
                <a:latin typeface="Calibri"/>
              </a:rPr>
              <a:t>One job: see it, choose, finish.</a:t>
            </a:r>
          </a:p>
        </p:txBody>
      </p:sp>
      <p:sp>
        <p:nvSpPr>
          <p:cNvPr id="12" name="TextBox 11"/>
          <p:cNvSpPr txBox="1"/>
          <p:nvPr/>
        </p:nvSpPr>
        <p:spPr>
          <a:xfrm>
            <a:off x="502920" y="2734056"/>
            <a:ext cx="2103120" cy="457200"/>
          </a:xfrm>
          <a:prstGeom prst="rect">
            <a:avLst/>
          </a:prstGeom>
          <a:noFill/>
        </p:spPr>
        <p:txBody>
          <a:bodyPr wrap="square">
            <a:spAutoFit/>
          </a:bodyPr>
          <a:lstStyle/>
          <a:p>
            <a:pPr algn="l"/>
            <a:r>
              <a:rPr sz="1800" b="1">
                <a:solidFill>
                  <a:srgbClr val="E10600"/>
                </a:solidFill>
                <a:latin typeface="Calibri"/>
              </a:rPr>
              <a:t>Ideate</a:t>
            </a:r>
          </a:p>
        </p:txBody>
      </p:sp>
      <p:sp>
        <p:nvSpPr>
          <p:cNvPr id="13" name="TextBox 12"/>
          <p:cNvSpPr txBox="1"/>
          <p:nvPr/>
        </p:nvSpPr>
        <p:spPr>
          <a:xfrm>
            <a:off x="2651760" y="2734056"/>
            <a:ext cx="3931920" cy="457200"/>
          </a:xfrm>
          <a:prstGeom prst="rect">
            <a:avLst/>
          </a:prstGeom>
          <a:noFill/>
        </p:spPr>
        <p:txBody>
          <a:bodyPr wrap="square">
            <a:spAutoFit/>
          </a:bodyPr>
          <a:lstStyle/>
          <a:p>
            <a:pPr algn="l"/>
            <a:r>
              <a:rPr sz="1800" b="0">
                <a:solidFill>
                  <a:srgbClr val="1C1B1A"/>
                </a:solidFill>
                <a:latin typeface="Calibri"/>
              </a:rPr>
              <a:t>Picked the recovery journey.</a:t>
            </a:r>
          </a:p>
        </p:txBody>
      </p:sp>
      <p:sp>
        <p:nvSpPr>
          <p:cNvPr id="14" name="TextBox 13"/>
          <p:cNvSpPr txBox="1"/>
          <p:nvPr/>
        </p:nvSpPr>
        <p:spPr>
          <a:xfrm>
            <a:off x="502920" y="3392424"/>
            <a:ext cx="2103120" cy="457200"/>
          </a:xfrm>
          <a:prstGeom prst="rect">
            <a:avLst/>
          </a:prstGeom>
          <a:noFill/>
        </p:spPr>
        <p:txBody>
          <a:bodyPr wrap="square">
            <a:spAutoFit/>
          </a:bodyPr>
          <a:lstStyle/>
          <a:p>
            <a:pPr algn="l"/>
            <a:r>
              <a:rPr sz="1800" b="1">
                <a:solidFill>
                  <a:srgbClr val="E10600"/>
                </a:solidFill>
                <a:latin typeface="Calibri"/>
              </a:rPr>
              <a:t>Prototype</a:t>
            </a:r>
          </a:p>
        </p:txBody>
      </p:sp>
      <p:sp>
        <p:nvSpPr>
          <p:cNvPr id="15" name="TextBox 14"/>
          <p:cNvSpPr txBox="1"/>
          <p:nvPr/>
        </p:nvSpPr>
        <p:spPr>
          <a:xfrm>
            <a:off x="2651760" y="3392424"/>
            <a:ext cx="3931920" cy="457200"/>
          </a:xfrm>
          <a:prstGeom prst="rect">
            <a:avLst/>
          </a:prstGeom>
          <a:noFill/>
        </p:spPr>
        <p:txBody>
          <a:bodyPr wrap="square">
            <a:spAutoFit/>
          </a:bodyPr>
          <a:lstStyle/>
          <a:p>
            <a:pPr algn="l"/>
            <a:r>
              <a:rPr sz="1800" b="0">
                <a:solidFill>
                  <a:srgbClr val="1C1B1A"/>
                </a:solidFill>
                <a:latin typeface="Calibri"/>
              </a:rPr>
              <a:t>Six steps, one case.</a:t>
            </a:r>
          </a:p>
        </p:txBody>
      </p:sp>
      <p:sp>
        <p:nvSpPr>
          <p:cNvPr id="16" name="TextBox 15"/>
          <p:cNvSpPr txBox="1"/>
          <p:nvPr/>
        </p:nvSpPr>
        <p:spPr>
          <a:xfrm>
            <a:off x="502920" y="4050791"/>
            <a:ext cx="2103120" cy="457200"/>
          </a:xfrm>
          <a:prstGeom prst="rect">
            <a:avLst/>
          </a:prstGeom>
          <a:noFill/>
        </p:spPr>
        <p:txBody>
          <a:bodyPr wrap="square">
            <a:spAutoFit/>
          </a:bodyPr>
          <a:lstStyle/>
          <a:p>
            <a:pPr algn="l"/>
            <a:r>
              <a:rPr sz="1800" b="1">
                <a:solidFill>
                  <a:srgbClr val="E10600"/>
                </a:solidFill>
                <a:latin typeface="Calibri"/>
              </a:rPr>
              <a:t>Test</a:t>
            </a:r>
          </a:p>
        </p:txBody>
      </p:sp>
      <p:sp>
        <p:nvSpPr>
          <p:cNvPr id="17" name="TextBox 16"/>
          <p:cNvSpPr txBox="1"/>
          <p:nvPr/>
        </p:nvSpPr>
        <p:spPr>
          <a:xfrm>
            <a:off x="2651760" y="4050791"/>
            <a:ext cx="3931920" cy="457200"/>
          </a:xfrm>
          <a:prstGeom prst="rect">
            <a:avLst/>
          </a:prstGeom>
          <a:noFill/>
        </p:spPr>
        <p:txBody>
          <a:bodyPr wrap="square">
            <a:spAutoFit/>
          </a:bodyPr>
          <a:lstStyle/>
          <a:p>
            <a:pPr algn="l"/>
            <a:r>
              <a:rPr sz="1800" b="0">
                <a:solidFill>
                  <a:srgbClr val="1C1B1A"/>
                </a:solidFill>
                <a:latin typeface="Calibri"/>
              </a:rPr>
              <a:t>Refund asks twice. A healthy order stays healthy.</a:t>
            </a:r>
          </a:p>
        </p:txBody>
      </p:sp>
      <p:sp>
        <p:nvSpPr>
          <p:cNvPr id="18" name="Rectangle 17"/>
          <p:cNvSpPr/>
          <p:nvPr/>
        </p:nvSpPr>
        <p:spPr>
          <a:xfrm>
            <a:off x="6858000" y="1463040"/>
            <a:ext cx="4846320" cy="429768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86600" y="1645920"/>
            <a:ext cx="4480560" cy="365760"/>
          </a:xfrm>
          <a:prstGeom prst="rect">
            <a:avLst/>
          </a:prstGeom>
          <a:noFill/>
        </p:spPr>
        <p:txBody>
          <a:bodyPr wrap="square">
            <a:spAutoFit/>
          </a:bodyPr>
          <a:lstStyle/>
          <a:p>
            <a:pPr algn="l"/>
            <a:r>
              <a:rPr sz="1300" b="1">
                <a:solidFill>
                  <a:srgbClr val="E10600"/>
                </a:solidFill>
                <a:latin typeface="Calibri"/>
              </a:rPr>
              <a:t>NEW MODELS</a:t>
            </a:r>
          </a:p>
        </p:txBody>
      </p:sp>
      <p:sp>
        <p:nvSpPr>
          <p:cNvPr id="20" name="TextBox 19"/>
          <p:cNvSpPr txBox="1"/>
          <p:nvPr/>
        </p:nvSpPr>
        <p:spPr>
          <a:xfrm>
            <a:off x="7086600" y="2057400"/>
            <a:ext cx="4480560" cy="3474720"/>
          </a:xfrm>
          <a:prstGeom prst="rect">
            <a:avLst/>
          </a:prstGeom>
          <a:noFill/>
        </p:spPr>
        <p:txBody>
          <a:bodyPr wrap="square">
            <a:spAutoFit/>
          </a:bodyPr>
          <a:lstStyle/>
          <a:p>
            <a:pPr algn="l"/>
            <a:r>
              <a:rPr sz="1600" b="0">
                <a:solidFill>
                  <a:srgbClr val="1C1B1A"/>
                </a:solidFill>
                <a:latin typeface="Calibri"/>
              </a:rPr>
              <a:t>AS-IS
Carrier page, then a phone call, then a separate refund queue.
TO-BE
One Kmart journey. One service request.
Not available
The billing API cannot create a refund. The app confirms it and links the sales order.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7  /  12</a:t>
            </a:r>
          </a:p>
        </p:txBody>
      </p:sp>
      <p:sp>
        <p:nvSpPr>
          <p:cNvPr id="6" name="TextBox 5"/>
          <p:cNvSpPr txBox="1"/>
          <p:nvPr/>
        </p:nvSpPr>
        <p:spPr>
          <a:xfrm>
            <a:off x="502920" y="320040"/>
            <a:ext cx="7315200" cy="274320"/>
          </a:xfrm>
          <a:prstGeom prst="rect">
            <a:avLst/>
          </a:prstGeom>
          <a:noFill/>
        </p:spPr>
        <p:txBody>
          <a:bodyPr wrap="square">
            <a:spAutoFit/>
          </a:bodyPr>
          <a:lstStyle/>
          <a:p>
            <a:pPr algn="l"/>
            <a:r>
              <a:rPr sz="1400" b="1">
                <a:solidFill>
                  <a:srgbClr val="E10600"/>
                </a:solidFill>
                <a:latin typeface="Calibri"/>
              </a:rPr>
              <a:t>EASE OF USE</a:t>
            </a:r>
          </a:p>
        </p:txBody>
      </p:sp>
      <p:sp>
        <p:nvSpPr>
          <p:cNvPr id="7" name="TextBox 6"/>
          <p:cNvSpPr txBox="1"/>
          <p:nvPr/>
        </p:nvSpPr>
        <p:spPr>
          <a:xfrm>
            <a:off x="502920" y="640080"/>
            <a:ext cx="10972800" cy="502920"/>
          </a:xfrm>
          <a:prstGeom prst="rect">
            <a:avLst/>
          </a:prstGeom>
          <a:noFill/>
        </p:spPr>
        <p:txBody>
          <a:bodyPr wrap="square">
            <a:spAutoFit/>
          </a:bodyPr>
          <a:lstStyle/>
          <a:p>
            <a:pPr algn="l"/>
            <a:r>
              <a:rPr sz="2600" b="1">
                <a:solidFill>
                  <a:srgbClr val="1C1B1A"/>
                </a:solidFill>
                <a:latin typeface="Calibri"/>
              </a:rPr>
              <a:t>Nielsen’s ten heuristics, each tied to a screen.</a:t>
            </a:r>
          </a:p>
        </p:txBody>
      </p:sp>
      <p:sp>
        <p:nvSpPr>
          <p:cNvPr id="8" name="TextBox 7"/>
          <p:cNvSpPr txBox="1"/>
          <p:nvPr/>
        </p:nvSpPr>
        <p:spPr>
          <a:xfrm>
            <a:off x="502920" y="1417320"/>
            <a:ext cx="2194560" cy="640080"/>
          </a:xfrm>
          <a:prstGeom prst="rect">
            <a:avLst/>
          </a:prstGeom>
          <a:noFill/>
        </p:spPr>
        <p:txBody>
          <a:bodyPr wrap="square">
            <a:spAutoFit/>
          </a:bodyPr>
          <a:lstStyle/>
          <a:p>
            <a:pPr algn="l"/>
            <a:r>
              <a:rPr sz="1600" b="1">
                <a:solidFill>
                  <a:srgbClr val="E10600"/>
                </a:solidFill>
                <a:latin typeface="Calibri"/>
              </a:rPr>
              <a:t>1  Status</a:t>
            </a:r>
          </a:p>
        </p:txBody>
      </p:sp>
      <p:sp>
        <p:nvSpPr>
          <p:cNvPr id="9" name="TextBox 8"/>
          <p:cNvSpPr txBox="1"/>
          <p:nvPr/>
        </p:nvSpPr>
        <p:spPr>
          <a:xfrm>
            <a:off x="2697480" y="1417320"/>
            <a:ext cx="3291840" cy="640080"/>
          </a:xfrm>
          <a:prstGeom prst="rect">
            <a:avLst/>
          </a:prstGeom>
          <a:noFill/>
        </p:spPr>
        <p:txBody>
          <a:bodyPr wrap="square">
            <a:spAutoFit/>
          </a:bodyPr>
          <a:lstStyle/>
          <a:p>
            <a:pPr algn="l"/>
            <a:r>
              <a:rPr sz="1600" b="0">
                <a:solidFill>
                  <a:srgbClr val="1C1B1A"/>
                </a:solidFill>
                <a:latin typeface="Calibri"/>
              </a:rPr>
              <a:t>Step x of 6 stays on screen.</a:t>
            </a:r>
          </a:p>
        </p:txBody>
      </p:sp>
      <p:sp>
        <p:nvSpPr>
          <p:cNvPr id="10" name="TextBox 9"/>
          <p:cNvSpPr txBox="1"/>
          <p:nvPr/>
        </p:nvSpPr>
        <p:spPr>
          <a:xfrm>
            <a:off x="6263640" y="1417320"/>
            <a:ext cx="2194560" cy="640080"/>
          </a:xfrm>
          <a:prstGeom prst="rect">
            <a:avLst/>
          </a:prstGeom>
          <a:noFill/>
        </p:spPr>
        <p:txBody>
          <a:bodyPr wrap="square">
            <a:spAutoFit/>
          </a:bodyPr>
          <a:lstStyle/>
          <a:p>
            <a:pPr algn="l"/>
            <a:r>
              <a:rPr sz="1600" b="1">
                <a:solidFill>
                  <a:srgbClr val="E10600"/>
                </a:solidFill>
                <a:latin typeface="Calibri"/>
              </a:rPr>
              <a:t>2  Real world</a:t>
            </a:r>
          </a:p>
        </p:txBody>
      </p:sp>
      <p:sp>
        <p:nvSpPr>
          <p:cNvPr id="11" name="TextBox 10"/>
          <p:cNvSpPr txBox="1"/>
          <p:nvPr/>
        </p:nvSpPr>
        <p:spPr>
          <a:xfrm>
            <a:off x="8458200" y="1417320"/>
            <a:ext cx="3291840" cy="640080"/>
          </a:xfrm>
          <a:prstGeom prst="rect">
            <a:avLst/>
          </a:prstGeom>
          <a:noFill/>
        </p:spPr>
        <p:txBody>
          <a:bodyPr wrap="square">
            <a:spAutoFit/>
          </a:bodyPr>
          <a:lstStyle/>
          <a:p>
            <a:pPr algn="l"/>
            <a:r>
              <a:rPr sz="1600" b="0">
                <a:solidFill>
                  <a:srgbClr val="1C1B1A"/>
                </a:solidFill>
                <a:latin typeface="Calibri"/>
              </a:rPr>
              <a:t>“Track my order”, not SAP codes.</a:t>
            </a:r>
          </a:p>
        </p:txBody>
      </p:sp>
      <p:sp>
        <p:nvSpPr>
          <p:cNvPr id="12" name="TextBox 11"/>
          <p:cNvSpPr txBox="1"/>
          <p:nvPr/>
        </p:nvSpPr>
        <p:spPr>
          <a:xfrm>
            <a:off x="502920" y="2331720"/>
            <a:ext cx="2194560" cy="640080"/>
          </a:xfrm>
          <a:prstGeom prst="rect">
            <a:avLst/>
          </a:prstGeom>
          <a:noFill/>
        </p:spPr>
        <p:txBody>
          <a:bodyPr wrap="square">
            <a:spAutoFit/>
          </a:bodyPr>
          <a:lstStyle/>
          <a:p>
            <a:pPr algn="l"/>
            <a:r>
              <a:rPr sz="1600" b="1">
                <a:solidFill>
                  <a:srgbClr val="E10600"/>
                </a:solidFill>
                <a:latin typeface="Calibri"/>
              </a:rPr>
              <a:t>3  Control</a:t>
            </a:r>
          </a:p>
        </p:txBody>
      </p:sp>
      <p:sp>
        <p:nvSpPr>
          <p:cNvPr id="13" name="TextBox 12"/>
          <p:cNvSpPr txBox="1"/>
          <p:nvPr/>
        </p:nvSpPr>
        <p:spPr>
          <a:xfrm>
            <a:off x="2697480" y="2331720"/>
            <a:ext cx="3291840" cy="640080"/>
          </a:xfrm>
          <a:prstGeom prst="rect">
            <a:avLst/>
          </a:prstGeom>
          <a:noFill/>
        </p:spPr>
        <p:txBody>
          <a:bodyPr wrap="square">
            <a:spAutoFit/>
          </a:bodyPr>
          <a:lstStyle/>
          <a:p>
            <a:pPr algn="l"/>
            <a:r>
              <a:rPr sz="1600" b="0">
                <a:solidFill>
                  <a:srgbClr val="1C1B1A"/>
                </a:solidFill>
                <a:latin typeface="Calibri"/>
              </a:rPr>
              <a:t>Back, and start the order again.</a:t>
            </a:r>
          </a:p>
        </p:txBody>
      </p:sp>
      <p:sp>
        <p:nvSpPr>
          <p:cNvPr id="14" name="TextBox 13"/>
          <p:cNvSpPr txBox="1"/>
          <p:nvPr/>
        </p:nvSpPr>
        <p:spPr>
          <a:xfrm>
            <a:off x="6263640" y="2331720"/>
            <a:ext cx="2194560" cy="640080"/>
          </a:xfrm>
          <a:prstGeom prst="rect">
            <a:avLst/>
          </a:prstGeom>
          <a:noFill/>
        </p:spPr>
        <p:txBody>
          <a:bodyPr wrap="square">
            <a:spAutoFit/>
          </a:bodyPr>
          <a:lstStyle/>
          <a:p>
            <a:pPr algn="l"/>
            <a:r>
              <a:rPr sz="1600" b="1">
                <a:solidFill>
                  <a:srgbClr val="E10600"/>
                </a:solidFill>
                <a:latin typeface="Calibri"/>
              </a:rPr>
              <a:t>4  Consistency</a:t>
            </a:r>
          </a:p>
        </p:txBody>
      </p:sp>
      <p:sp>
        <p:nvSpPr>
          <p:cNvPr id="15" name="TextBox 14"/>
          <p:cNvSpPr txBox="1"/>
          <p:nvPr/>
        </p:nvSpPr>
        <p:spPr>
          <a:xfrm>
            <a:off x="8458200" y="2331720"/>
            <a:ext cx="3291840" cy="640080"/>
          </a:xfrm>
          <a:prstGeom prst="rect">
            <a:avLst/>
          </a:prstGeom>
          <a:noFill/>
        </p:spPr>
        <p:txBody>
          <a:bodyPr wrap="square">
            <a:spAutoFit/>
          </a:bodyPr>
          <a:lstStyle/>
          <a:p>
            <a:pPr algn="l"/>
            <a:r>
              <a:rPr sz="1600" b="0">
                <a:solidFill>
                  <a:srgbClr val="1C1B1A"/>
                </a:solidFill>
                <a:latin typeface="Calibri"/>
              </a:rPr>
              <a:t>One button, one step pattern.</a:t>
            </a:r>
          </a:p>
        </p:txBody>
      </p:sp>
      <p:sp>
        <p:nvSpPr>
          <p:cNvPr id="16" name="TextBox 15"/>
          <p:cNvSpPr txBox="1"/>
          <p:nvPr/>
        </p:nvSpPr>
        <p:spPr>
          <a:xfrm>
            <a:off x="502920" y="3246120"/>
            <a:ext cx="2194560" cy="640080"/>
          </a:xfrm>
          <a:prstGeom prst="rect">
            <a:avLst/>
          </a:prstGeom>
          <a:noFill/>
        </p:spPr>
        <p:txBody>
          <a:bodyPr wrap="square">
            <a:spAutoFit/>
          </a:bodyPr>
          <a:lstStyle/>
          <a:p>
            <a:pPr algn="l"/>
            <a:r>
              <a:rPr sz="1600" b="1">
                <a:solidFill>
                  <a:srgbClr val="E10600"/>
                </a:solidFill>
                <a:latin typeface="Calibri"/>
              </a:rPr>
              <a:t>5  Prevention</a:t>
            </a:r>
          </a:p>
        </p:txBody>
      </p:sp>
      <p:sp>
        <p:nvSpPr>
          <p:cNvPr id="17" name="TextBox 16"/>
          <p:cNvSpPr txBox="1"/>
          <p:nvPr/>
        </p:nvSpPr>
        <p:spPr>
          <a:xfrm>
            <a:off x="2697480" y="3246120"/>
            <a:ext cx="3291840" cy="640080"/>
          </a:xfrm>
          <a:prstGeom prst="rect">
            <a:avLst/>
          </a:prstGeom>
          <a:noFill/>
        </p:spPr>
        <p:txBody>
          <a:bodyPr wrap="square">
            <a:spAutoFit/>
          </a:bodyPr>
          <a:lstStyle/>
          <a:p>
            <a:pPr algn="l"/>
            <a:r>
              <a:rPr sz="1600" b="0">
                <a:solidFill>
                  <a:srgbClr val="1C1B1A"/>
                </a:solidFill>
                <a:latin typeface="Calibri"/>
              </a:rPr>
              <a:t>A refund is named, then confirmed.</a:t>
            </a:r>
          </a:p>
        </p:txBody>
      </p:sp>
      <p:sp>
        <p:nvSpPr>
          <p:cNvPr id="18" name="TextBox 17"/>
          <p:cNvSpPr txBox="1"/>
          <p:nvPr/>
        </p:nvSpPr>
        <p:spPr>
          <a:xfrm>
            <a:off x="6263640" y="3246120"/>
            <a:ext cx="2194560" cy="640080"/>
          </a:xfrm>
          <a:prstGeom prst="rect">
            <a:avLst/>
          </a:prstGeom>
          <a:noFill/>
        </p:spPr>
        <p:txBody>
          <a:bodyPr wrap="square">
            <a:spAutoFit/>
          </a:bodyPr>
          <a:lstStyle/>
          <a:p>
            <a:pPr algn="l"/>
            <a:r>
              <a:rPr sz="1600" b="1">
                <a:solidFill>
                  <a:srgbClr val="E10600"/>
                </a:solidFill>
                <a:latin typeface="Calibri"/>
              </a:rPr>
              <a:t>6  Recognition</a:t>
            </a:r>
          </a:p>
        </p:txBody>
      </p:sp>
      <p:sp>
        <p:nvSpPr>
          <p:cNvPr id="19" name="TextBox 18"/>
          <p:cNvSpPr txBox="1"/>
          <p:nvPr/>
        </p:nvSpPr>
        <p:spPr>
          <a:xfrm>
            <a:off x="8458200" y="3246120"/>
            <a:ext cx="3291840" cy="640080"/>
          </a:xfrm>
          <a:prstGeom prst="rect">
            <a:avLst/>
          </a:prstGeom>
          <a:noFill/>
        </p:spPr>
        <p:txBody>
          <a:bodyPr wrap="square">
            <a:spAutoFit/>
          </a:bodyPr>
          <a:lstStyle/>
          <a:p>
            <a:pPr algn="l"/>
            <a:r>
              <a:rPr sz="1600" b="0">
                <a:solidFill>
                  <a:srgbClr val="1C1B1A"/>
                </a:solidFill>
                <a:latin typeface="Calibri"/>
              </a:rPr>
              <a:t>Recent orders are visible.</a:t>
            </a:r>
          </a:p>
        </p:txBody>
      </p:sp>
      <p:sp>
        <p:nvSpPr>
          <p:cNvPr id="20" name="TextBox 19"/>
          <p:cNvSpPr txBox="1"/>
          <p:nvPr/>
        </p:nvSpPr>
        <p:spPr>
          <a:xfrm>
            <a:off x="502920" y="4160520"/>
            <a:ext cx="2194560" cy="640080"/>
          </a:xfrm>
          <a:prstGeom prst="rect">
            <a:avLst/>
          </a:prstGeom>
          <a:noFill/>
        </p:spPr>
        <p:txBody>
          <a:bodyPr wrap="square">
            <a:spAutoFit/>
          </a:bodyPr>
          <a:lstStyle/>
          <a:p>
            <a:pPr algn="l"/>
            <a:r>
              <a:rPr sz="1600" b="1">
                <a:solidFill>
                  <a:srgbClr val="E10600"/>
                </a:solidFill>
                <a:latin typeface="Calibri"/>
              </a:rPr>
              <a:t>7  Flexibility</a:t>
            </a:r>
          </a:p>
        </p:txBody>
      </p:sp>
      <p:sp>
        <p:nvSpPr>
          <p:cNvPr id="21" name="TextBox 20"/>
          <p:cNvSpPr txBox="1"/>
          <p:nvPr/>
        </p:nvSpPr>
        <p:spPr>
          <a:xfrm>
            <a:off x="2697480" y="4160520"/>
            <a:ext cx="3291840" cy="640080"/>
          </a:xfrm>
          <a:prstGeom prst="rect">
            <a:avLst/>
          </a:prstGeom>
          <a:noFill/>
        </p:spPr>
        <p:txBody>
          <a:bodyPr wrap="square">
            <a:spAutoFit/>
          </a:bodyPr>
          <a:lstStyle/>
          <a:p>
            <a:pPr algn="l"/>
            <a:r>
              <a:rPr sz="1600" b="0">
                <a:solidFill>
                  <a:srgbClr val="1C1B1A"/>
                </a:solidFill>
                <a:latin typeface="Calibri"/>
              </a:rPr>
              <a:t>Order number or sales order.</a:t>
            </a:r>
          </a:p>
        </p:txBody>
      </p:sp>
      <p:sp>
        <p:nvSpPr>
          <p:cNvPr id="22" name="TextBox 21"/>
          <p:cNvSpPr txBox="1"/>
          <p:nvPr/>
        </p:nvSpPr>
        <p:spPr>
          <a:xfrm>
            <a:off x="6263640" y="4160520"/>
            <a:ext cx="2194560" cy="640080"/>
          </a:xfrm>
          <a:prstGeom prst="rect">
            <a:avLst/>
          </a:prstGeom>
          <a:noFill/>
        </p:spPr>
        <p:txBody>
          <a:bodyPr wrap="square">
            <a:spAutoFit/>
          </a:bodyPr>
          <a:lstStyle/>
          <a:p>
            <a:pPr algn="l"/>
            <a:r>
              <a:rPr sz="1600" b="1">
                <a:solidFill>
                  <a:srgbClr val="E10600"/>
                </a:solidFill>
                <a:latin typeface="Calibri"/>
              </a:rPr>
              <a:t>8  Aesthetic</a:t>
            </a:r>
          </a:p>
        </p:txBody>
      </p:sp>
      <p:sp>
        <p:nvSpPr>
          <p:cNvPr id="23" name="TextBox 22"/>
          <p:cNvSpPr txBox="1"/>
          <p:nvPr/>
        </p:nvSpPr>
        <p:spPr>
          <a:xfrm>
            <a:off x="8458200" y="4160520"/>
            <a:ext cx="3291840" cy="640080"/>
          </a:xfrm>
          <a:prstGeom prst="rect">
            <a:avLst/>
          </a:prstGeom>
          <a:noFill/>
        </p:spPr>
        <p:txBody>
          <a:bodyPr wrap="square">
            <a:spAutoFit/>
          </a:bodyPr>
          <a:lstStyle/>
          <a:p>
            <a:pPr algn="l"/>
            <a:r>
              <a:rPr sz="1600" b="0">
                <a:solidFill>
                  <a:srgbClr val="1C1B1A"/>
                </a:solidFill>
                <a:latin typeface="Calibri"/>
              </a:rPr>
              <a:t>One decision on each screen.</a:t>
            </a:r>
          </a:p>
        </p:txBody>
      </p:sp>
      <p:sp>
        <p:nvSpPr>
          <p:cNvPr id="24" name="TextBox 23"/>
          <p:cNvSpPr txBox="1"/>
          <p:nvPr/>
        </p:nvSpPr>
        <p:spPr>
          <a:xfrm>
            <a:off x="502920" y="5074920"/>
            <a:ext cx="2194560" cy="640080"/>
          </a:xfrm>
          <a:prstGeom prst="rect">
            <a:avLst/>
          </a:prstGeom>
          <a:noFill/>
        </p:spPr>
        <p:txBody>
          <a:bodyPr wrap="square">
            <a:spAutoFit/>
          </a:bodyPr>
          <a:lstStyle/>
          <a:p>
            <a:pPr algn="l"/>
            <a:r>
              <a:rPr sz="1600" b="1">
                <a:solidFill>
                  <a:srgbClr val="E10600"/>
                </a:solidFill>
                <a:latin typeface="Calibri"/>
              </a:rPr>
              <a:t>9  Recovery</a:t>
            </a:r>
          </a:p>
        </p:txBody>
      </p:sp>
      <p:sp>
        <p:nvSpPr>
          <p:cNvPr id="25" name="TextBox 24"/>
          <p:cNvSpPr txBox="1"/>
          <p:nvPr/>
        </p:nvSpPr>
        <p:spPr>
          <a:xfrm>
            <a:off x="2697480" y="5074920"/>
            <a:ext cx="3291840" cy="640080"/>
          </a:xfrm>
          <a:prstGeom prst="rect">
            <a:avLst/>
          </a:prstGeom>
          <a:noFill/>
        </p:spPr>
        <p:txBody>
          <a:bodyPr wrap="square">
            <a:spAutoFit/>
          </a:bodyPr>
          <a:lstStyle/>
          <a:p>
            <a:pPr algn="l"/>
            <a:r>
              <a:rPr sz="1600" b="0">
                <a:solidFill>
                  <a:srgbClr val="1C1B1A"/>
                </a:solidFill>
                <a:latin typeface="Calibri"/>
              </a:rPr>
              <a:t>A missing order says what to check.</a:t>
            </a:r>
          </a:p>
        </p:txBody>
      </p:sp>
      <p:sp>
        <p:nvSpPr>
          <p:cNvPr id="26" name="TextBox 25"/>
          <p:cNvSpPr txBox="1"/>
          <p:nvPr/>
        </p:nvSpPr>
        <p:spPr>
          <a:xfrm>
            <a:off x="6263640" y="5074920"/>
            <a:ext cx="2194560" cy="640080"/>
          </a:xfrm>
          <a:prstGeom prst="rect">
            <a:avLst/>
          </a:prstGeom>
          <a:noFill/>
        </p:spPr>
        <p:txBody>
          <a:bodyPr wrap="square">
            <a:spAutoFit/>
          </a:bodyPr>
          <a:lstStyle/>
          <a:p>
            <a:pPr algn="l"/>
            <a:r>
              <a:rPr sz="1600" b="1">
                <a:solidFill>
                  <a:srgbClr val="E10600"/>
                </a:solidFill>
                <a:latin typeface="Calibri"/>
              </a:rPr>
              <a:t>10  Help</a:t>
            </a:r>
          </a:p>
        </p:txBody>
      </p:sp>
      <p:sp>
        <p:nvSpPr>
          <p:cNvPr id="27" name="TextBox 26"/>
          <p:cNvSpPr txBox="1"/>
          <p:nvPr/>
        </p:nvSpPr>
        <p:spPr>
          <a:xfrm>
            <a:off x="8458200" y="5074920"/>
            <a:ext cx="3291840" cy="640080"/>
          </a:xfrm>
          <a:prstGeom prst="rect">
            <a:avLst/>
          </a:prstGeom>
          <a:noFill/>
        </p:spPr>
        <p:txBody>
          <a:bodyPr wrap="square">
            <a:spAutoFit/>
          </a:bodyPr>
          <a:lstStyle/>
          <a:p>
            <a:pPr algn="l"/>
            <a:r>
              <a:rPr sz="1600" b="0">
                <a:solidFill>
                  <a:srgbClr val="1C1B1A"/>
                </a:solidFill>
                <a:latin typeface="Calibri"/>
              </a:rPr>
              <a:t>Each screen says what happens next.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8  /  12</a:t>
            </a:r>
          </a:p>
        </p:txBody>
      </p:sp>
      <p:sp>
        <p:nvSpPr>
          <p:cNvPr id="6" name="TextBox 5"/>
          <p:cNvSpPr txBox="1"/>
          <p:nvPr/>
        </p:nvSpPr>
        <p:spPr>
          <a:xfrm>
            <a:off x="502920" y="320040"/>
            <a:ext cx="7315200" cy="274320"/>
          </a:xfrm>
          <a:prstGeom prst="rect">
            <a:avLst/>
          </a:prstGeom>
          <a:noFill/>
        </p:spPr>
        <p:txBody>
          <a:bodyPr wrap="square">
            <a:spAutoFit/>
          </a:bodyPr>
          <a:lstStyle/>
          <a:p>
            <a:pPr algn="l"/>
            <a:r>
              <a:rPr sz="1400" b="1">
                <a:solidFill>
                  <a:srgbClr val="E10600"/>
                </a:solidFill>
                <a:latin typeface="Calibri"/>
              </a:rPr>
              <a:t>UNDER THE HOOD  ·  SAP</a:t>
            </a:r>
          </a:p>
        </p:txBody>
      </p:sp>
      <p:sp>
        <p:nvSpPr>
          <p:cNvPr id="7" name="TextBox 6"/>
          <p:cNvSpPr txBox="1"/>
          <p:nvPr/>
        </p:nvSpPr>
        <p:spPr>
          <a:xfrm>
            <a:off x="502920" y="640080"/>
            <a:ext cx="10972800" cy="548640"/>
          </a:xfrm>
          <a:prstGeom prst="rect">
            <a:avLst/>
          </a:prstGeom>
          <a:noFill/>
        </p:spPr>
        <p:txBody>
          <a:bodyPr wrap="square">
            <a:spAutoFit/>
          </a:bodyPr>
          <a:lstStyle/>
          <a:p>
            <a:pPr algn="l"/>
            <a:r>
              <a:rPr sz="2800" b="1">
                <a:solidFill>
                  <a:srgbClr val="1C1B1A"/>
                </a:solidFill>
                <a:latin typeface="Calibri"/>
              </a:rPr>
              <a:t>Real SAP data in. Exact SAP requests out.</a:t>
            </a:r>
          </a:p>
        </p:txBody>
      </p:sp>
      <p:sp>
        <p:nvSpPr>
          <p:cNvPr id="8" name="Rectangle 7"/>
          <p:cNvSpPr/>
          <p:nvPr/>
        </p:nvSpPr>
        <p:spPr>
          <a:xfrm>
            <a:off x="502920" y="1554480"/>
            <a:ext cx="3566160" cy="452628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54480"/>
            <a:ext cx="3566160"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783080"/>
            <a:ext cx="3108960" cy="365760"/>
          </a:xfrm>
          <a:prstGeom prst="rect">
            <a:avLst/>
          </a:prstGeom>
          <a:noFill/>
        </p:spPr>
        <p:txBody>
          <a:bodyPr wrap="square">
            <a:spAutoFit/>
          </a:bodyPr>
          <a:lstStyle/>
          <a:p>
            <a:pPr algn="l"/>
            <a:r>
              <a:rPr sz="1400" b="1">
                <a:solidFill>
                  <a:srgbClr val="E10600"/>
                </a:solidFill>
                <a:latin typeface="Calibri"/>
              </a:rPr>
              <a:t>READ LIVE</a:t>
            </a:r>
          </a:p>
        </p:txBody>
      </p:sp>
      <p:sp>
        <p:nvSpPr>
          <p:cNvPr id="11" name="TextBox 10"/>
          <p:cNvSpPr txBox="1"/>
          <p:nvPr/>
        </p:nvSpPr>
        <p:spPr>
          <a:xfrm>
            <a:off x="731520" y="2240280"/>
            <a:ext cx="3200400" cy="3657600"/>
          </a:xfrm>
          <a:prstGeom prst="rect">
            <a:avLst/>
          </a:prstGeom>
          <a:noFill/>
        </p:spPr>
        <p:txBody>
          <a:bodyPr wrap="square">
            <a:spAutoFit/>
          </a:bodyPr>
          <a:lstStyle/>
          <a:p>
            <a:pPr algn="l"/>
            <a:r>
              <a:rPr sz="1400" b="0">
                <a:solidFill>
                  <a:srgbClr val="1C1B1A"/>
                </a:solidFill>
                <a:latin typeface="Calibri"/>
              </a:rPr>
              <a:t>Sales Order API
API_SALES_ORDER_SRV
Order, items and delivery status ($top, $select, $expand).
Purchase Order API (OData V4)
Supplier orders, items, schedule-line dates.</a:t>
            </a:r>
          </a:p>
        </p:txBody>
      </p:sp>
      <p:sp>
        <p:nvSpPr>
          <p:cNvPr id="12" name="Rectangle 11"/>
          <p:cNvSpPr/>
          <p:nvPr/>
        </p:nvSpPr>
        <p:spPr>
          <a:xfrm>
            <a:off x="4297680" y="1554480"/>
            <a:ext cx="3566160" cy="452628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554480"/>
            <a:ext cx="3566160" cy="73152"/>
          </a:xfrm>
          <a:prstGeom prst="rect">
            <a:avLst/>
          </a:prstGeom>
          <a:solidFill>
            <a:srgbClr val="1C1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783080"/>
            <a:ext cx="3108960" cy="365760"/>
          </a:xfrm>
          <a:prstGeom prst="rect">
            <a:avLst/>
          </a:prstGeom>
          <a:noFill/>
        </p:spPr>
        <p:txBody>
          <a:bodyPr wrap="square">
            <a:spAutoFit/>
          </a:bodyPr>
          <a:lstStyle/>
          <a:p>
            <a:pPr algn="l"/>
            <a:r>
              <a:rPr sz="1400" b="1">
                <a:solidFill>
                  <a:srgbClr val="1C1B1A"/>
                </a:solidFill>
                <a:latin typeface="Calibri"/>
              </a:rPr>
              <a:t>WRITE  ·  SIMULATED</a:t>
            </a:r>
          </a:p>
        </p:txBody>
      </p:sp>
      <p:sp>
        <p:nvSpPr>
          <p:cNvPr id="15" name="TextBox 14"/>
          <p:cNvSpPr txBox="1"/>
          <p:nvPr/>
        </p:nvSpPr>
        <p:spPr>
          <a:xfrm>
            <a:off x="4526280" y="2240280"/>
            <a:ext cx="3200400" cy="3657600"/>
          </a:xfrm>
          <a:prstGeom prst="rect">
            <a:avLst/>
          </a:prstGeom>
          <a:noFill/>
        </p:spPr>
        <p:txBody>
          <a:bodyPr wrap="square">
            <a:spAutoFit/>
          </a:bodyPr>
          <a:lstStyle/>
          <a:p>
            <a:pPr algn="l"/>
            <a:r>
              <a:rPr sz="1400" b="0">
                <a:solidFill>
                  <a:srgbClr val="1C1B1A"/>
                </a:solidFill>
                <a:latin typeface="Calibri"/>
              </a:rPr>
              <a:t>Service request
OP_API_SERVICE_REQUEST_SRV_0001
Purchase-order items, schedule lines, notes.
The sandbox is read-only (POST returns 405), so each request is built in exact OData format, saved and shown on screen. One setting switches to live S/4HANA.</a:t>
            </a:r>
          </a:p>
        </p:txBody>
      </p:sp>
      <p:sp>
        <p:nvSpPr>
          <p:cNvPr id="16" name="Rectangle 15"/>
          <p:cNvSpPr/>
          <p:nvPr/>
        </p:nvSpPr>
        <p:spPr>
          <a:xfrm>
            <a:off x="8092440" y="1554480"/>
            <a:ext cx="3566160" cy="452628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554480"/>
            <a:ext cx="3566160" cy="73152"/>
          </a:xfrm>
          <a:prstGeom prst="rect">
            <a:avLst/>
          </a:prstGeom>
          <a:solidFill>
            <a:srgbClr val="1C1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783080"/>
            <a:ext cx="3108960" cy="365760"/>
          </a:xfrm>
          <a:prstGeom prst="rect">
            <a:avLst/>
          </a:prstGeom>
          <a:noFill/>
        </p:spPr>
        <p:txBody>
          <a:bodyPr wrap="square">
            <a:spAutoFit/>
          </a:bodyPr>
          <a:lstStyle/>
          <a:p>
            <a:pPr algn="l"/>
            <a:r>
              <a:rPr sz="1400" b="1">
                <a:solidFill>
                  <a:srgbClr val="1C1B1A"/>
                </a:solidFill>
                <a:latin typeface="Calibri"/>
              </a:rPr>
              <a:t>BUILT THE LAB WAY</a:t>
            </a:r>
          </a:p>
        </p:txBody>
      </p:sp>
      <p:sp>
        <p:nvSpPr>
          <p:cNvPr id="19" name="TextBox 18"/>
          <p:cNvSpPr txBox="1"/>
          <p:nvPr/>
        </p:nvSpPr>
        <p:spPr>
          <a:xfrm>
            <a:off x="8321040" y="2240280"/>
            <a:ext cx="3200400" cy="3657600"/>
          </a:xfrm>
          <a:prstGeom prst="rect">
            <a:avLst/>
          </a:prstGeom>
          <a:noFill/>
        </p:spPr>
        <p:txBody>
          <a:bodyPr wrap="square">
            <a:spAutoFit/>
          </a:bodyPr>
          <a:lstStyle/>
          <a:p>
            <a:pPr algn="l"/>
            <a:r>
              <a:rPr sz="1400" b="0">
                <a:solidFill>
                  <a:srgbClr val="1C1B1A"/>
                </a:solidFill>
                <a:latin typeface="Calibri"/>
              </a:rPr>
              <a:t>SAP Integration Suite: API proxy and MCP server deployed.
OpenCode prompts with the API spec, sandbox URL and API key.
If the sandbox is down, the app falls back to the last saved SAP snapshot.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5486400" cy="274320"/>
          </a:xfrm>
          <a:prstGeom prst="rect">
            <a:avLst/>
          </a:prstGeom>
          <a:noFill/>
        </p:spPr>
        <p:txBody>
          <a:bodyPr wrap="square">
            <a:spAutoFit/>
          </a:bodyPr>
          <a:lstStyle/>
          <a:p>
            <a:pPr algn="l"/>
            <a:r>
              <a:rPr sz="1400" b="1">
                <a:solidFill>
                  <a:srgbClr val="E10600"/>
                </a:solidFill>
                <a:latin typeface="Calibri"/>
              </a:rPr>
              <a:t>SHOW IT</a:t>
            </a:r>
          </a:p>
        </p:txBody>
      </p:sp>
      <p:sp>
        <p:nvSpPr>
          <p:cNvPr id="5" name="TextBox 4"/>
          <p:cNvSpPr txBox="1"/>
          <p:nvPr/>
        </p:nvSpPr>
        <p:spPr>
          <a:xfrm>
            <a:off x="777240" y="914400"/>
            <a:ext cx="10058400" cy="731520"/>
          </a:xfrm>
          <a:prstGeom prst="rect">
            <a:avLst/>
          </a:prstGeom>
          <a:noFill/>
        </p:spPr>
        <p:txBody>
          <a:bodyPr wrap="square">
            <a:spAutoFit/>
          </a:bodyPr>
          <a:lstStyle/>
          <a:p>
            <a:pPr algn="l"/>
            <a:r>
              <a:rPr sz="4800" b="1">
                <a:solidFill>
                  <a:srgbClr val="FFFFFF"/>
                </a:solidFill>
                <a:latin typeface="Calibri"/>
              </a:rPr>
              <a:t>Order KM185002</a:t>
            </a:r>
          </a:p>
        </p:txBody>
      </p:sp>
      <p:sp>
        <p:nvSpPr>
          <p:cNvPr id="6" name="TextBox 5"/>
          <p:cNvSpPr txBox="1"/>
          <p:nvPr/>
        </p:nvSpPr>
        <p:spPr>
          <a:xfrm>
            <a:off x="777240" y="1828800"/>
            <a:ext cx="9144000" cy="457200"/>
          </a:xfrm>
          <a:prstGeom prst="rect">
            <a:avLst/>
          </a:prstGeom>
          <a:noFill/>
        </p:spPr>
        <p:txBody>
          <a:bodyPr wrap="square">
            <a:spAutoFit/>
          </a:bodyPr>
          <a:lstStyle/>
          <a:p>
            <a:pPr algn="l"/>
            <a:r>
              <a:rPr sz="2000" b="0">
                <a:solidFill>
                  <a:srgbClr val="E6E0D8"/>
                </a:solidFill>
                <a:latin typeface="Calibri"/>
              </a:rPr>
              <a:t>ANKO Storage Box 30L  ·  damaged on delivery  ·  cushion is fine</a:t>
            </a:r>
          </a:p>
        </p:txBody>
      </p:sp>
      <p:sp>
        <p:nvSpPr>
          <p:cNvPr id="7" name="TextBox 6"/>
          <p:cNvSpPr txBox="1"/>
          <p:nvPr/>
        </p:nvSpPr>
        <p:spPr>
          <a:xfrm>
            <a:off x="777240" y="2834640"/>
            <a:ext cx="10058400" cy="502920"/>
          </a:xfrm>
          <a:prstGeom prst="rect">
            <a:avLst/>
          </a:prstGeom>
          <a:noFill/>
        </p:spPr>
        <p:txBody>
          <a:bodyPr wrap="square">
            <a:spAutoFit/>
          </a:bodyPr>
          <a:lstStyle/>
          <a:p>
            <a:pPr algn="l"/>
            <a:r>
              <a:rPr sz="2200" b="0">
                <a:solidFill>
                  <a:srgbClr val="FFFFFF"/>
                </a:solidFill>
                <a:latin typeface="Calibri"/>
              </a:rPr>
              <a:t>1    Open the order. Read the one-sentence status.</a:t>
            </a:r>
          </a:p>
        </p:txBody>
      </p:sp>
      <p:sp>
        <p:nvSpPr>
          <p:cNvPr id="8" name="TextBox 7"/>
          <p:cNvSpPr txBox="1"/>
          <p:nvPr/>
        </p:nvSpPr>
        <p:spPr>
          <a:xfrm>
            <a:off x="777240" y="3474720"/>
            <a:ext cx="10058400" cy="502920"/>
          </a:xfrm>
          <a:prstGeom prst="rect">
            <a:avLst/>
          </a:prstGeom>
          <a:noFill/>
        </p:spPr>
        <p:txBody>
          <a:bodyPr wrap="square">
            <a:spAutoFit/>
          </a:bodyPr>
          <a:lstStyle/>
          <a:p>
            <a:pPr algn="l"/>
            <a:r>
              <a:rPr sz="2200" b="0">
                <a:solidFill>
                  <a:srgbClr val="FFFFFF"/>
                </a:solidFill>
                <a:latin typeface="Calibri"/>
              </a:rPr>
              <a:t>2    Confirm the problem. Keep the recommended replacement.</a:t>
            </a:r>
          </a:p>
        </p:txBody>
      </p:sp>
      <p:sp>
        <p:nvSpPr>
          <p:cNvPr id="9" name="TextBox 8"/>
          <p:cNvSpPr txBox="1"/>
          <p:nvPr/>
        </p:nvSpPr>
        <p:spPr>
          <a:xfrm>
            <a:off x="777240" y="4114800"/>
            <a:ext cx="10058400" cy="502920"/>
          </a:xfrm>
          <a:prstGeom prst="rect">
            <a:avLst/>
          </a:prstGeom>
          <a:noFill/>
        </p:spPr>
        <p:txBody>
          <a:bodyPr wrap="square">
            <a:spAutoFit/>
          </a:bodyPr>
          <a:lstStyle/>
          <a:p>
            <a:pPr algn="l"/>
            <a:r>
              <a:rPr sz="2200" b="0">
                <a:solidFill>
                  <a:srgbClr val="FFFFFF"/>
                </a:solidFill>
                <a:latin typeface="Calibri"/>
              </a:rPr>
              <a:t>3    Check for an update until the case is ready.</a:t>
            </a:r>
          </a:p>
        </p:txBody>
      </p:sp>
      <p:sp>
        <p:nvSpPr>
          <p:cNvPr id="10" name="TextBox 9"/>
          <p:cNvSpPr txBox="1"/>
          <p:nvPr/>
        </p:nvSpPr>
        <p:spPr>
          <a:xfrm>
            <a:off x="777240" y="4754879"/>
            <a:ext cx="10058400" cy="502920"/>
          </a:xfrm>
          <a:prstGeom prst="rect">
            <a:avLst/>
          </a:prstGeom>
          <a:noFill/>
        </p:spPr>
        <p:txBody>
          <a:bodyPr wrap="square">
            <a:spAutoFit/>
          </a:bodyPr>
          <a:lstStyle/>
          <a:p>
            <a:pPr algn="l"/>
            <a:r>
              <a:rPr sz="2200" b="0">
                <a:solidFill>
                  <a:srgbClr val="FFFFFF"/>
                </a:solidFill>
                <a:latin typeface="Calibri"/>
              </a:rPr>
              <a:t>4    Confirm. Show the SAP service request.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10  /  12</a:t>
            </a:r>
          </a:p>
        </p:txBody>
      </p:sp>
      <p:sp>
        <p:nvSpPr>
          <p:cNvPr id="6" name="TextBox 5"/>
          <p:cNvSpPr txBox="1"/>
          <p:nvPr/>
        </p:nvSpPr>
        <p:spPr>
          <a:xfrm>
            <a:off x="502920" y="320040"/>
            <a:ext cx="8229600" cy="274320"/>
          </a:xfrm>
          <a:prstGeom prst="rect">
            <a:avLst/>
          </a:prstGeom>
          <a:noFill/>
        </p:spPr>
        <p:txBody>
          <a:bodyPr wrap="square">
            <a:spAutoFit/>
          </a:bodyPr>
          <a:lstStyle/>
          <a:p>
            <a:pPr algn="l"/>
            <a:r>
              <a:rPr sz="1400" b="1">
                <a:solidFill>
                  <a:srgbClr val="E10600"/>
                </a:solidFill>
                <a:latin typeface="Calibri"/>
              </a:rPr>
              <a:t>SAME EXCEPTIONS  ·  BUYER SIDE</a:t>
            </a:r>
          </a:p>
        </p:txBody>
      </p:sp>
      <p:sp>
        <p:nvSpPr>
          <p:cNvPr id="7" name="TextBox 6"/>
          <p:cNvSpPr txBox="1"/>
          <p:nvPr/>
        </p:nvSpPr>
        <p:spPr>
          <a:xfrm>
            <a:off x="502920" y="640080"/>
            <a:ext cx="11247120" cy="548640"/>
          </a:xfrm>
          <a:prstGeom prst="rect">
            <a:avLst/>
          </a:prstGeom>
          <a:noFill/>
        </p:spPr>
        <p:txBody>
          <a:bodyPr wrap="square">
            <a:spAutoFit/>
          </a:bodyPr>
          <a:lstStyle/>
          <a:p>
            <a:pPr algn="l"/>
            <a:r>
              <a:rPr sz="2800" b="1">
                <a:solidFill>
                  <a:srgbClr val="1C1B1A"/>
                </a:solidFill>
                <a:latin typeface="Calibri"/>
              </a:rPr>
              <a:t>Before an order reaches a customer, the stock has to arrive.</a:t>
            </a:r>
          </a:p>
        </p:txBody>
      </p:sp>
      <p:sp>
        <p:nvSpPr>
          <p:cNvPr id="8" name="Rectangle 7"/>
          <p:cNvSpPr/>
          <p:nvPr/>
        </p:nvSpPr>
        <p:spPr>
          <a:xfrm>
            <a:off x="502920" y="1463040"/>
            <a:ext cx="6492240" cy="3840480"/>
          </a:xfrm>
          <a:prstGeom prst="rect">
            <a:avLst/>
          </a:prstGeom>
          <a:no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upplyhub_tracker.png"/>
          <p:cNvPicPr>
            <a:picLocks noChangeAspect="1"/>
          </p:cNvPicPr>
          <p:nvPr/>
        </p:nvPicPr>
        <p:blipFill>
          <a:blip r:embed="rId2"/>
          <a:stretch>
            <a:fillRect/>
          </a:stretch>
        </p:blipFill>
        <p:spPr>
          <a:xfrm>
            <a:off x="512064" y="1472184"/>
            <a:ext cx="6473952" cy="3815355"/>
          </a:xfrm>
          <a:prstGeom prst="rect">
            <a:avLst/>
          </a:prstGeom>
        </p:spPr>
      </p:pic>
      <p:sp>
        <p:nvSpPr>
          <p:cNvPr id="10" name="TextBox 9"/>
          <p:cNvSpPr txBox="1"/>
          <p:nvPr/>
        </p:nvSpPr>
        <p:spPr>
          <a:xfrm>
            <a:off x="502920" y="5394960"/>
            <a:ext cx="6492240" cy="365760"/>
          </a:xfrm>
          <a:prstGeom prst="rect">
            <a:avLst/>
          </a:prstGeom>
          <a:noFill/>
        </p:spPr>
        <p:txBody>
          <a:bodyPr wrap="square">
            <a:spAutoFit/>
          </a:bodyPr>
          <a:lstStyle/>
          <a:p>
            <a:pPr algn="l"/>
            <a:r>
              <a:rPr sz="1200" b="0">
                <a:solidFill>
                  <a:srgbClr val="5E5A55"/>
                </a:solidFill>
                <a:latin typeface="Calibri"/>
              </a:rPr>
              <a:t>Supply Hub · Delivery Tracker · Knit Throw, 9 days late (live SAP purchase order)</a:t>
            </a:r>
          </a:p>
        </p:txBody>
      </p:sp>
      <p:sp>
        <p:nvSpPr>
          <p:cNvPr id="11" name="TextBox 10"/>
          <p:cNvSpPr txBox="1"/>
          <p:nvPr/>
        </p:nvSpPr>
        <p:spPr>
          <a:xfrm>
            <a:off x="7315200" y="1463040"/>
            <a:ext cx="4389120" cy="365760"/>
          </a:xfrm>
          <a:prstGeom prst="rect">
            <a:avLst/>
          </a:prstGeom>
          <a:noFill/>
        </p:spPr>
        <p:txBody>
          <a:bodyPr wrap="square">
            <a:spAutoFit/>
          </a:bodyPr>
          <a:lstStyle/>
          <a:p>
            <a:pPr algn="l"/>
            <a:r>
              <a:rPr sz="1800" b="1">
                <a:solidFill>
                  <a:srgbClr val="E10600"/>
                </a:solidFill>
                <a:latin typeface="Calibri"/>
              </a:rPr>
              <a:t>Delivery Tracker</a:t>
            </a:r>
          </a:p>
        </p:txBody>
      </p:sp>
      <p:sp>
        <p:nvSpPr>
          <p:cNvPr id="12" name="TextBox 11"/>
          <p:cNvSpPr txBox="1"/>
          <p:nvPr/>
        </p:nvSpPr>
        <p:spPr>
          <a:xfrm>
            <a:off x="7315200" y="1847088"/>
            <a:ext cx="4389120" cy="868680"/>
          </a:xfrm>
          <a:prstGeom prst="rect">
            <a:avLst/>
          </a:prstGeom>
          <a:noFill/>
        </p:spPr>
        <p:txBody>
          <a:bodyPr wrap="square">
            <a:spAutoFit/>
          </a:bodyPr>
          <a:lstStyle/>
          <a:p>
            <a:pPr algn="l"/>
            <a:r>
              <a:rPr sz="1500" b="0">
                <a:solidFill>
                  <a:srgbClr val="1C1B1A"/>
                </a:solidFill>
                <a:latin typeface="Calibri"/>
              </a:rPr>
              <a:t>Inbound supplier orders on a map. SAP schedule lines flag a delay, short shipment, damage or supplier rejection.</a:t>
            </a:r>
          </a:p>
        </p:txBody>
      </p:sp>
      <p:sp>
        <p:nvSpPr>
          <p:cNvPr id="13" name="TextBox 12"/>
          <p:cNvSpPr txBox="1"/>
          <p:nvPr/>
        </p:nvSpPr>
        <p:spPr>
          <a:xfrm>
            <a:off x="7315200" y="2788920"/>
            <a:ext cx="4389120" cy="365760"/>
          </a:xfrm>
          <a:prstGeom prst="rect">
            <a:avLst/>
          </a:prstGeom>
          <a:noFill/>
        </p:spPr>
        <p:txBody>
          <a:bodyPr wrap="square">
            <a:spAutoFit/>
          </a:bodyPr>
          <a:lstStyle/>
          <a:p>
            <a:pPr algn="l"/>
            <a:r>
              <a:rPr sz="1800" b="1">
                <a:solidFill>
                  <a:srgbClr val="E10600"/>
                </a:solidFill>
                <a:latin typeface="Calibri"/>
              </a:rPr>
              <a:t>Same recovery path</a:t>
            </a:r>
          </a:p>
        </p:txBody>
      </p:sp>
      <p:sp>
        <p:nvSpPr>
          <p:cNvPr id="14" name="TextBox 13"/>
          <p:cNvSpPr txBox="1"/>
          <p:nvPr/>
        </p:nvSpPr>
        <p:spPr>
          <a:xfrm>
            <a:off x="7315200" y="3172968"/>
            <a:ext cx="4389120" cy="868680"/>
          </a:xfrm>
          <a:prstGeom prst="rect">
            <a:avLst/>
          </a:prstGeom>
          <a:noFill/>
        </p:spPr>
        <p:txBody>
          <a:bodyPr wrap="square">
            <a:spAutoFit/>
          </a:bodyPr>
          <a:lstStyle/>
          <a:p>
            <a:pPr algn="l"/>
            <a:r>
              <a:rPr sz="1500" b="0">
                <a:solidFill>
                  <a:srgbClr val="1C1B1A"/>
                </a:solidFill>
                <a:latin typeface="Calibri"/>
              </a:rPr>
              <a:t>Expedite, replace, refund or re-source, each built as SAP purchase-order changes.</a:t>
            </a:r>
          </a:p>
        </p:txBody>
      </p:sp>
      <p:sp>
        <p:nvSpPr>
          <p:cNvPr id="15" name="TextBox 14"/>
          <p:cNvSpPr txBox="1"/>
          <p:nvPr/>
        </p:nvSpPr>
        <p:spPr>
          <a:xfrm>
            <a:off x="7315200" y="4114800"/>
            <a:ext cx="4389120" cy="365760"/>
          </a:xfrm>
          <a:prstGeom prst="rect">
            <a:avLst/>
          </a:prstGeom>
          <a:noFill/>
        </p:spPr>
        <p:txBody>
          <a:bodyPr wrap="square">
            <a:spAutoFit/>
          </a:bodyPr>
          <a:lstStyle/>
          <a:p>
            <a:pPr algn="l"/>
            <a:r>
              <a:rPr sz="1800" b="1">
                <a:solidFill>
                  <a:srgbClr val="E10600"/>
                </a:solidFill>
                <a:latin typeface="Calibri"/>
              </a:rPr>
              <a:t>Mix-Lock</a:t>
            </a:r>
          </a:p>
        </p:txBody>
      </p:sp>
      <p:sp>
        <p:nvSpPr>
          <p:cNvPr id="16" name="TextBox 15"/>
          <p:cNvSpPr txBox="1"/>
          <p:nvPr/>
        </p:nvSpPr>
        <p:spPr>
          <a:xfrm>
            <a:off x="7315200" y="4498848"/>
            <a:ext cx="4389120" cy="868680"/>
          </a:xfrm>
          <a:prstGeom prst="rect">
            <a:avLst/>
          </a:prstGeom>
          <a:noFill/>
        </p:spPr>
        <p:txBody>
          <a:bodyPr wrap="square">
            <a:spAutoFit/>
          </a:bodyPr>
          <a:lstStyle/>
          <a:p>
            <a:pPr algn="l"/>
            <a:r>
              <a:rPr sz="1500" b="0">
                <a:solidFill>
                  <a:srgbClr val="1C1B1A"/>
                </a:solidFill>
                <a:latin typeface="Calibri"/>
              </a:rPr>
              <a:t>Defers the Anko colour and size split until early sell-through is in. Knit Throw markdown risk: $2,218 to $605.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11  /  12</a:t>
            </a:r>
          </a:p>
        </p:txBody>
      </p:sp>
      <p:sp>
        <p:nvSpPr>
          <p:cNvPr id="6" name="TextBox 5"/>
          <p:cNvSpPr txBox="1"/>
          <p:nvPr/>
        </p:nvSpPr>
        <p:spPr>
          <a:xfrm>
            <a:off x="502920" y="320040"/>
            <a:ext cx="3657600" cy="274320"/>
          </a:xfrm>
          <a:prstGeom prst="rect">
            <a:avLst/>
          </a:prstGeom>
          <a:noFill/>
        </p:spPr>
        <p:txBody>
          <a:bodyPr wrap="square">
            <a:spAutoFit/>
          </a:bodyPr>
          <a:lstStyle/>
          <a:p>
            <a:pPr algn="l"/>
            <a:r>
              <a:rPr sz="1400" b="1">
                <a:solidFill>
                  <a:srgbClr val="E10600"/>
                </a:solidFill>
                <a:latin typeface="Calibri"/>
              </a:rPr>
              <a:t>THE ASK</a:t>
            </a:r>
          </a:p>
        </p:txBody>
      </p:sp>
      <p:sp>
        <p:nvSpPr>
          <p:cNvPr id="7" name="TextBox 6"/>
          <p:cNvSpPr txBox="1"/>
          <p:nvPr/>
        </p:nvSpPr>
        <p:spPr>
          <a:xfrm>
            <a:off x="502920" y="731520"/>
            <a:ext cx="10972800" cy="1097280"/>
          </a:xfrm>
          <a:prstGeom prst="rect">
            <a:avLst/>
          </a:prstGeom>
          <a:noFill/>
        </p:spPr>
        <p:txBody>
          <a:bodyPr wrap="square">
            <a:spAutoFit/>
          </a:bodyPr>
          <a:lstStyle/>
          <a:p>
            <a:pPr algn="l"/>
            <a:r>
              <a:rPr sz="3400" b="1">
                <a:solidFill>
                  <a:srgbClr val="1C1B1A"/>
                </a:solidFill>
                <a:latin typeface="Calibri"/>
              </a:rPr>
              <a:t>Use this as the customer face
of exception recovery.</a:t>
            </a:r>
          </a:p>
        </p:txBody>
      </p:sp>
      <p:sp>
        <p:nvSpPr>
          <p:cNvPr id="8" name="TextBox 7"/>
          <p:cNvSpPr txBox="1"/>
          <p:nvPr/>
        </p:nvSpPr>
        <p:spPr>
          <a:xfrm>
            <a:off x="502920" y="2468880"/>
            <a:ext cx="2194560" cy="640080"/>
          </a:xfrm>
          <a:prstGeom prst="rect">
            <a:avLst/>
          </a:prstGeom>
          <a:noFill/>
        </p:spPr>
        <p:txBody>
          <a:bodyPr wrap="square">
            <a:spAutoFit/>
          </a:bodyPr>
          <a:lstStyle/>
          <a:p>
            <a:pPr algn="l"/>
            <a:r>
              <a:rPr sz="2200" b="1">
                <a:solidFill>
                  <a:srgbClr val="E10600"/>
                </a:solidFill>
                <a:latin typeface="Calibri"/>
              </a:rPr>
              <a:t>Today</a:t>
            </a:r>
          </a:p>
        </p:txBody>
      </p:sp>
      <p:sp>
        <p:nvSpPr>
          <p:cNvPr id="9" name="TextBox 8"/>
          <p:cNvSpPr txBox="1"/>
          <p:nvPr/>
        </p:nvSpPr>
        <p:spPr>
          <a:xfrm>
            <a:off x="2834640" y="2468880"/>
            <a:ext cx="8503920" cy="822960"/>
          </a:xfrm>
          <a:prstGeom prst="rect">
            <a:avLst/>
          </a:prstGeom>
          <a:noFill/>
        </p:spPr>
        <p:txBody>
          <a:bodyPr wrap="square">
            <a:spAutoFit/>
          </a:bodyPr>
          <a:lstStyle/>
          <a:p>
            <a:pPr algn="l"/>
            <a:r>
              <a:rPr sz="2200" b="0">
                <a:solidFill>
                  <a:srgbClr val="1C1B1A"/>
                </a:solidFill>
                <a:latin typeface="Calibri"/>
              </a:rPr>
              <a:t>A customer can finish a damaged, missed or missing delivery without a call.</a:t>
            </a:r>
          </a:p>
        </p:txBody>
      </p:sp>
      <p:sp>
        <p:nvSpPr>
          <p:cNvPr id="10" name="TextBox 9"/>
          <p:cNvSpPr txBox="1"/>
          <p:nvPr/>
        </p:nvSpPr>
        <p:spPr>
          <a:xfrm>
            <a:off x="502920" y="3611880"/>
            <a:ext cx="2194560" cy="640080"/>
          </a:xfrm>
          <a:prstGeom prst="rect">
            <a:avLst/>
          </a:prstGeom>
          <a:noFill/>
        </p:spPr>
        <p:txBody>
          <a:bodyPr wrap="square">
            <a:spAutoFit/>
          </a:bodyPr>
          <a:lstStyle/>
          <a:p>
            <a:pPr algn="l"/>
            <a:r>
              <a:rPr sz="2200" b="1">
                <a:solidFill>
                  <a:srgbClr val="E10600"/>
                </a:solidFill>
                <a:latin typeface="Calibri"/>
              </a:rPr>
              <a:t>Next</a:t>
            </a:r>
          </a:p>
        </p:txBody>
      </p:sp>
      <p:sp>
        <p:nvSpPr>
          <p:cNvPr id="11" name="TextBox 10"/>
          <p:cNvSpPr txBox="1"/>
          <p:nvPr/>
        </p:nvSpPr>
        <p:spPr>
          <a:xfrm>
            <a:off x="2834640" y="3611880"/>
            <a:ext cx="8503920" cy="822960"/>
          </a:xfrm>
          <a:prstGeom prst="rect">
            <a:avLst/>
          </a:prstGeom>
          <a:noFill/>
        </p:spPr>
        <p:txBody>
          <a:bodyPr wrap="square">
            <a:spAutoFit/>
          </a:bodyPr>
          <a:lstStyle/>
          <a:p>
            <a:pPr algn="l"/>
            <a:r>
              <a:rPr sz="2200" b="0">
                <a:solidFill>
                  <a:srgbClr val="1C1B1A"/>
                </a:solidFill>
                <a:latin typeface="Calibri"/>
              </a:rPr>
              <a:t>Supply Hub brings the same recovery to inbound supplier orders. Decision data and routing stay on the programme.</a:t>
            </a:r>
          </a:p>
        </p:txBody>
      </p:sp>
      <p:sp>
        <p:nvSpPr>
          <p:cNvPr id="12" name="TextBox 11"/>
          <p:cNvSpPr txBox="1"/>
          <p:nvPr/>
        </p:nvSpPr>
        <p:spPr>
          <a:xfrm>
            <a:off x="502920" y="4754880"/>
            <a:ext cx="2194560" cy="640080"/>
          </a:xfrm>
          <a:prstGeom prst="rect">
            <a:avLst/>
          </a:prstGeom>
          <a:noFill/>
        </p:spPr>
        <p:txBody>
          <a:bodyPr wrap="square">
            <a:spAutoFit/>
          </a:bodyPr>
          <a:lstStyle/>
          <a:p>
            <a:pPr algn="l"/>
            <a:r>
              <a:rPr sz="2200" b="1">
                <a:solidFill>
                  <a:srgbClr val="E10600"/>
                </a:solidFill>
                <a:latin typeface="Calibri"/>
              </a:rPr>
              <a:t>Guardrail</a:t>
            </a:r>
          </a:p>
        </p:txBody>
      </p:sp>
      <p:sp>
        <p:nvSpPr>
          <p:cNvPr id="13" name="TextBox 12"/>
          <p:cNvSpPr txBox="1"/>
          <p:nvPr/>
        </p:nvSpPr>
        <p:spPr>
          <a:xfrm>
            <a:off x="2834640" y="4754880"/>
            <a:ext cx="8503920" cy="822960"/>
          </a:xfrm>
          <a:prstGeom prst="rect">
            <a:avLst/>
          </a:prstGeom>
          <a:noFill/>
        </p:spPr>
        <p:txBody>
          <a:bodyPr wrap="square">
            <a:spAutoFit/>
          </a:bodyPr>
          <a:lstStyle/>
          <a:p>
            <a:pPr algn="l"/>
            <a:r>
              <a:rPr sz="2200" b="0">
                <a:solidFill>
                  <a:srgbClr val="1C1B1A"/>
                </a:solidFill>
                <a:latin typeface="Calibri"/>
              </a:rPr>
              <a:t>A refund is explicit. A healthy order is not turned into a case.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12  /  12</a:t>
            </a:r>
          </a:p>
        </p:txBody>
      </p:sp>
      <p:sp>
        <p:nvSpPr>
          <p:cNvPr id="6" name="TextBox 5"/>
          <p:cNvSpPr txBox="1"/>
          <p:nvPr/>
        </p:nvSpPr>
        <p:spPr>
          <a:xfrm>
            <a:off x="502920" y="320040"/>
            <a:ext cx="8229600" cy="274320"/>
          </a:xfrm>
          <a:prstGeom prst="rect">
            <a:avLst/>
          </a:prstGeom>
          <a:noFill/>
        </p:spPr>
        <p:txBody>
          <a:bodyPr wrap="square">
            <a:spAutoFit/>
          </a:bodyPr>
          <a:lstStyle/>
          <a:p>
            <a:pPr algn="l"/>
            <a:r>
              <a:rPr sz="1400" b="1">
                <a:solidFill>
                  <a:srgbClr val="E10600"/>
                </a:solidFill>
                <a:latin typeface="Calibri"/>
              </a:rPr>
              <a:t>IF THE DEMO FAILS  ·  ORDER KM185002</a:t>
            </a:r>
          </a:p>
        </p:txBody>
      </p:sp>
      <p:sp>
        <p:nvSpPr>
          <p:cNvPr id="7" name="TextBox 6"/>
          <p:cNvSpPr txBox="1"/>
          <p:nvPr/>
        </p:nvSpPr>
        <p:spPr>
          <a:xfrm>
            <a:off x="502920" y="640080"/>
            <a:ext cx="10972800" cy="548640"/>
          </a:xfrm>
          <a:prstGeom prst="rect">
            <a:avLst/>
          </a:prstGeom>
          <a:noFill/>
        </p:spPr>
        <p:txBody>
          <a:bodyPr wrap="square">
            <a:spAutoFit/>
          </a:bodyPr>
          <a:lstStyle/>
          <a:p>
            <a:pPr algn="l"/>
            <a:r>
              <a:rPr sz="2600" b="1">
                <a:solidFill>
                  <a:srgbClr val="1C1B1A"/>
                </a:solidFill>
                <a:latin typeface="Calibri"/>
              </a:rPr>
              <a:t>The same journey, screen by screen.</a:t>
            </a:r>
          </a:p>
        </p:txBody>
      </p:sp>
      <p:sp>
        <p:nvSpPr>
          <p:cNvPr id="8" name="Rectangle 7"/>
          <p:cNvSpPr/>
          <p:nvPr/>
        </p:nvSpPr>
        <p:spPr>
          <a:xfrm>
            <a:off x="502920" y="1417320"/>
            <a:ext cx="2103120" cy="4572000"/>
          </a:xfrm>
          <a:prstGeom prst="rect">
            <a:avLst/>
          </a:prstGeom>
          <a:no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ssist_1_understand.png"/>
          <p:cNvPicPr>
            <a:picLocks noChangeAspect="1"/>
          </p:cNvPicPr>
          <p:nvPr/>
        </p:nvPicPr>
        <p:blipFill>
          <a:blip r:embed="rId2"/>
          <a:srcRect b="6391"/>
          <a:stretch>
            <a:fillRect/>
          </a:stretch>
        </p:blipFill>
        <p:spPr>
          <a:xfrm>
            <a:off x="512064" y="1426464"/>
            <a:ext cx="2084831" cy="4553712"/>
          </a:xfrm>
          <a:prstGeom prst="rect">
            <a:avLst/>
          </a:prstGeom>
        </p:spPr>
      </p:pic>
      <p:sp>
        <p:nvSpPr>
          <p:cNvPr id="10" name="TextBox 9"/>
          <p:cNvSpPr txBox="1"/>
          <p:nvPr/>
        </p:nvSpPr>
        <p:spPr>
          <a:xfrm>
            <a:off x="502920" y="6053328"/>
            <a:ext cx="2103120" cy="365760"/>
          </a:xfrm>
          <a:prstGeom prst="rect">
            <a:avLst/>
          </a:prstGeom>
          <a:noFill/>
        </p:spPr>
        <p:txBody>
          <a:bodyPr wrap="square">
            <a:spAutoFit/>
          </a:bodyPr>
          <a:lstStyle/>
          <a:p>
            <a:pPr algn="l"/>
            <a:r>
              <a:rPr sz="1200" b="0">
                <a:solidFill>
                  <a:srgbClr val="5E5A55"/>
                </a:solidFill>
                <a:latin typeface="Calibri"/>
              </a:rPr>
              <a:t>2  Understand</a:t>
            </a:r>
          </a:p>
        </p:txBody>
      </p:sp>
      <p:sp>
        <p:nvSpPr>
          <p:cNvPr id="11" name="Rectangle 10"/>
          <p:cNvSpPr/>
          <p:nvPr/>
        </p:nvSpPr>
        <p:spPr>
          <a:xfrm>
            <a:off x="2788920" y="1417320"/>
            <a:ext cx="2103120" cy="4572000"/>
          </a:xfrm>
          <a:prstGeom prst="rect">
            <a:avLst/>
          </a:prstGeom>
          <a:no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ssist_2_problem.png"/>
          <p:cNvPicPr>
            <a:picLocks noChangeAspect="1"/>
          </p:cNvPicPr>
          <p:nvPr/>
        </p:nvPicPr>
        <p:blipFill>
          <a:blip r:embed="rId3"/>
          <a:srcRect b="6391"/>
          <a:stretch>
            <a:fillRect/>
          </a:stretch>
        </p:blipFill>
        <p:spPr>
          <a:xfrm>
            <a:off x="2798064" y="1426464"/>
            <a:ext cx="2084831" cy="4553712"/>
          </a:xfrm>
          <a:prstGeom prst="rect">
            <a:avLst/>
          </a:prstGeom>
        </p:spPr>
      </p:pic>
      <p:sp>
        <p:nvSpPr>
          <p:cNvPr id="13" name="TextBox 12"/>
          <p:cNvSpPr txBox="1"/>
          <p:nvPr/>
        </p:nvSpPr>
        <p:spPr>
          <a:xfrm>
            <a:off x="2788920" y="6053328"/>
            <a:ext cx="2103120" cy="365760"/>
          </a:xfrm>
          <a:prstGeom prst="rect">
            <a:avLst/>
          </a:prstGeom>
          <a:noFill/>
        </p:spPr>
        <p:txBody>
          <a:bodyPr wrap="square">
            <a:spAutoFit/>
          </a:bodyPr>
          <a:lstStyle/>
          <a:p>
            <a:pPr algn="l"/>
            <a:r>
              <a:rPr sz="1200" b="0">
                <a:solidFill>
                  <a:srgbClr val="5E5A55"/>
                </a:solidFill>
                <a:latin typeface="Calibri"/>
              </a:rPr>
              <a:t>3  Identify the problem</a:t>
            </a:r>
          </a:p>
        </p:txBody>
      </p:sp>
      <p:sp>
        <p:nvSpPr>
          <p:cNvPr id="14" name="Rectangle 13"/>
          <p:cNvSpPr/>
          <p:nvPr/>
        </p:nvSpPr>
        <p:spPr>
          <a:xfrm>
            <a:off x="5074920" y="1417320"/>
            <a:ext cx="2103120" cy="4572000"/>
          </a:xfrm>
          <a:prstGeom prst="rect">
            <a:avLst/>
          </a:prstGeom>
          <a:no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ssist_3_choose.png"/>
          <p:cNvPicPr>
            <a:picLocks noChangeAspect="1"/>
          </p:cNvPicPr>
          <p:nvPr/>
        </p:nvPicPr>
        <p:blipFill>
          <a:blip r:embed="rId4"/>
          <a:srcRect b="6391"/>
          <a:stretch>
            <a:fillRect/>
          </a:stretch>
        </p:blipFill>
        <p:spPr>
          <a:xfrm>
            <a:off x="5084064" y="1426464"/>
            <a:ext cx="2084831" cy="4553712"/>
          </a:xfrm>
          <a:prstGeom prst="rect">
            <a:avLst/>
          </a:prstGeom>
        </p:spPr>
      </p:pic>
      <p:sp>
        <p:nvSpPr>
          <p:cNvPr id="16" name="TextBox 15"/>
          <p:cNvSpPr txBox="1"/>
          <p:nvPr/>
        </p:nvSpPr>
        <p:spPr>
          <a:xfrm>
            <a:off x="5074920" y="6053328"/>
            <a:ext cx="2103120" cy="365760"/>
          </a:xfrm>
          <a:prstGeom prst="rect">
            <a:avLst/>
          </a:prstGeom>
          <a:noFill/>
        </p:spPr>
        <p:txBody>
          <a:bodyPr wrap="square">
            <a:spAutoFit/>
          </a:bodyPr>
          <a:lstStyle/>
          <a:p>
            <a:pPr algn="l"/>
            <a:r>
              <a:rPr sz="1200" b="0">
                <a:solidFill>
                  <a:srgbClr val="5E5A55"/>
                </a:solidFill>
                <a:latin typeface="Calibri"/>
              </a:rPr>
              <a:t>4  Choose what to do</a:t>
            </a:r>
          </a:p>
        </p:txBody>
      </p:sp>
      <p:sp>
        <p:nvSpPr>
          <p:cNvPr id="17" name="Rectangle 16"/>
          <p:cNvSpPr/>
          <p:nvPr/>
        </p:nvSpPr>
        <p:spPr>
          <a:xfrm>
            <a:off x="7360920" y="1417320"/>
            <a:ext cx="2103120" cy="4572000"/>
          </a:xfrm>
          <a:prstGeom prst="rect">
            <a:avLst/>
          </a:prstGeom>
          <a:no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ssist_4_track.png"/>
          <p:cNvPicPr>
            <a:picLocks noChangeAspect="1"/>
          </p:cNvPicPr>
          <p:nvPr/>
        </p:nvPicPr>
        <p:blipFill>
          <a:blip r:embed="rId5"/>
          <a:srcRect b="6391"/>
          <a:stretch>
            <a:fillRect/>
          </a:stretch>
        </p:blipFill>
        <p:spPr>
          <a:xfrm>
            <a:off x="7370064" y="1426464"/>
            <a:ext cx="2084831" cy="4553712"/>
          </a:xfrm>
          <a:prstGeom prst="rect">
            <a:avLst/>
          </a:prstGeom>
        </p:spPr>
      </p:pic>
      <p:sp>
        <p:nvSpPr>
          <p:cNvPr id="19" name="TextBox 18"/>
          <p:cNvSpPr txBox="1"/>
          <p:nvPr/>
        </p:nvSpPr>
        <p:spPr>
          <a:xfrm>
            <a:off x="7360920" y="6053328"/>
            <a:ext cx="2103120" cy="365760"/>
          </a:xfrm>
          <a:prstGeom prst="rect">
            <a:avLst/>
          </a:prstGeom>
          <a:noFill/>
        </p:spPr>
        <p:txBody>
          <a:bodyPr wrap="square">
            <a:spAutoFit/>
          </a:bodyPr>
          <a:lstStyle/>
          <a:p>
            <a:pPr algn="l"/>
            <a:r>
              <a:rPr sz="1200" b="0">
                <a:solidFill>
                  <a:srgbClr val="5E5A55"/>
                </a:solidFill>
                <a:latin typeface="Calibri"/>
              </a:rPr>
              <a:t>5  Track the recovery</a:t>
            </a:r>
          </a:p>
        </p:txBody>
      </p:sp>
      <p:sp>
        <p:nvSpPr>
          <p:cNvPr id="20" name="Rectangle 19"/>
          <p:cNvSpPr/>
          <p:nvPr/>
        </p:nvSpPr>
        <p:spPr>
          <a:xfrm>
            <a:off x="9646920" y="1417320"/>
            <a:ext cx="2103120" cy="4572000"/>
          </a:xfrm>
          <a:prstGeom prst="rect">
            <a:avLst/>
          </a:prstGeom>
          <a:noFill/>
          <a:ln w="12700">
            <a:solidFill>
              <a:srgbClr val="E6E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assist_5_complete.png"/>
          <p:cNvPicPr>
            <a:picLocks noChangeAspect="1"/>
          </p:cNvPicPr>
          <p:nvPr/>
        </p:nvPicPr>
        <p:blipFill>
          <a:blip r:embed="rId6"/>
          <a:srcRect b="6391"/>
          <a:stretch>
            <a:fillRect/>
          </a:stretch>
        </p:blipFill>
        <p:spPr>
          <a:xfrm>
            <a:off x="9656064" y="1426464"/>
            <a:ext cx="2084831" cy="4553712"/>
          </a:xfrm>
          <a:prstGeom prst="rect">
            <a:avLst/>
          </a:prstGeom>
        </p:spPr>
      </p:pic>
      <p:sp>
        <p:nvSpPr>
          <p:cNvPr id="22" name="TextBox 21"/>
          <p:cNvSpPr txBox="1"/>
          <p:nvPr/>
        </p:nvSpPr>
        <p:spPr>
          <a:xfrm>
            <a:off x="9646920" y="6053328"/>
            <a:ext cx="2103120" cy="365760"/>
          </a:xfrm>
          <a:prstGeom prst="rect">
            <a:avLst/>
          </a:prstGeom>
          <a:noFill/>
        </p:spPr>
        <p:txBody>
          <a:bodyPr wrap="square">
            <a:spAutoFit/>
          </a:bodyPr>
          <a:lstStyle/>
          <a:p>
            <a:pPr algn="l"/>
            <a:r>
              <a:rPr sz="1200" b="0">
                <a:solidFill>
                  <a:srgbClr val="5E5A55"/>
                </a:solidFill>
                <a:latin typeface="Calibri"/>
              </a:rPr>
              <a:t>6  Complete, with the SAP request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430000" cy="365760"/>
          </a:xfrm>
          <a:prstGeom prst="rect">
            <a:avLst/>
          </a:prstGeom>
          <a:noFill/>
        </p:spPr>
        <p:txBody>
          <a:bodyPr wrap="square">
            <a:spAutoFit/>
          </a:bodyPr>
          <a:lstStyle/>
          <a:p>
            <a:pPr algn="l"/>
            <a:r>
              <a:rPr sz="2200" b="1">
                <a:solidFill>
                  <a:srgbClr val="1C1B1A"/>
                </a:solidFill>
                <a:latin typeface="Calibri"/>
              </a:rPr>
              <a:t>GROUPWORK MANAGEMENT DISCLAIMER</a:t>
            </a:r>
          </a:p>
        </p:txBody>
      </p:sp>
      <p:sp>
        <p:nvSpPr>
          <p:cNvPr id="5" name="TextBox 4"/>
          <p:cNvSpPr txBox="1"/>
          <p:nvPr/>
        </p:nvSpPr>
        <p:spPr>
          <a:xfrm>
            <a:off x="365760" y="594360"/>
            <a:ext cx="11430000" cy="777240"/>
          </a:xfrm>
          <a:prstGeom prst="rect">
            <a:avLst/>
          </a:prstGeom>
          <a:noFill/>
        </p:spPr>
        <p:txBody>
          <a:bodyPr wrap="square">
            <a:spAutoFit/>
          </a:bodyPr>
          <a:lstStyle/>
          <a:p>
            <a:pPr algn="l"/>
            <a:r>
              <a:rPr sz="1300" b="0">
                <a:solidFill>
                  <a:srgbClr val="1C1B1A"/>
                </a:solidFill>
                <a:latin typeface="Calibri"/>
              </a:rPr>
              <a:t>We take equal contribution in groupwork seriously, and marks may be deducted where there is a significant inequality in the team’s contribution. In the following table, state each group member’s contribution* to this assignment. You may also include any comments to support the % contribution indicated on the table.</a:t>
            </a:r>
          </a:p>
        </p:txBody>
      </p:sp>
      <p:sp>
        <p:nvSpPr>
          <p:cNvPr id="6" name="TextBox 5"/>
          <p:cNvSpPr txBox="1"/>
          <p:nvPr/>
        </p:nvSpPr>
        <p:spPr>
          <a:xfrm>
            <a:off x="365760" y="1371600"/>
            <a:ext cx="11430000" cy="320040"/>
          </a:xfrm>
          <a:prstGeom prst="rect">
            <a:avLst/>
          </a:prstGeom>
          <a:noFill/>
        </p:spPr>
        <p:txBody>
          <a:bodyPr wrap="square">
            <a:spAutoFit/>
          </a:bodyPr>
          <a:lstStyle/>
          <a:p>
            <a:pPr algn="l"/>
            <a:r>
              <a:rPr sz="1200" b="0">
                <a:solidFill>
                  <a:srgbClr val="5E5A55"/>
                </a:solidFill>
                <a:latin typeface="Calibri"/>
              </a:rPr>
              <a:t>*No contribution to the deliverable may result in a deduction of marks in the group assignment.</a:t>
            </a:r>
          </a:p>
        </p:txBody>
      </p:sp>
      <p:graphicFrame>
        <p:nvGraphicFramePr>
          <p:cNvPr id="7" name="Table 6"/>
          <p:cNvGraphicFramePr>
            <a:graphicFrameLocks noGrp="1"/>
          </p:cNvGraphicFramePr>
          <p:nvPr/>
        </p:nvGraphicFramePr>
        <p:xfrm>
          <a:off x="365760" y="1783080"/>
          <a:ext cx="11430000" cy="1554480"/>
        </p:xfrm>
        <a:graphic>
          <a:graphicData uri="http://schemas.openxmlformats.org/drawingml/2006/table">
            <a:tbl>
              <a:tblPr firstRow="1" bandRow="1">
                <a:tableStyleId>{5C22544A-7EE6-4342-B048-85BDC9FD1C3A}</a:tableStyleId>
              </a:tblPr>
              <a:tblGrid>
                <a:gridCol w="2103120"/>
                <a:gridCol w="2331720"/>
                <a:gridCol w="2331720"/>
                <a:gridCol w="2331720"/>
                <a:gridCol w="2331720"/>
              </a:tblGrid>
              <a:tr h="388620">
                <a:tc>
                  <a:txBody>
                    <a:bodyPr/>
                    <a:lstStyle/>
                    <a:p>
                      <a:pPr algn="l"/>
                      <a:r>
                        <a:rPr sz="1200" b="1">
                          <a:solidFill>
                            <a:srgbClr val="FFFFFF"/>
                          </a:solidFill>
                          <a:latin typeface="Calibri"/>
                        </a:rPr>
                        <a:t>GROUP MEMBER</a:t>
                      </a:r>
                    </a:p>
                  </a:txBody>
                  <a:tcPr anchor="ctr">
                    <a:solidFill>
                      <a:srgbClr val="E10600"/>
                    </a:solidFill>
                  </a:tcPr>
                </a:tc>
                <a:tc>
                  <a:txBody>
                    <a:bodyPr/>
                    <a:lstStyle/>
                    <a:p>
                      <a:pPr algn="ctr"/>
                      <a:r>
                        <a:rPr sz="1200" b="1">
                          <a:solidFill>
                            <a:srgbClr val="FFFFFF"/>
                          </a:solidFill>
                          <a:latin typeface="Calibri"/>
                        </a:rPr>
                        <a:t>Dingchen Yuan</a:t>
                      </a:r>
                    </a:p>
                  </a:txBody>
                  <a:tcPr anchor="ctr">
                    <a:solidFill>
                      <a:srgbClr val="E10600"/>
                    </a:solidFill>
                  </a:tcPr>
                </a:tc>
                <a:tc>
                  <a:txBody>
                    <a:bodyPr/>
                    <a:lstStyle/>
                    <a:p>
                      <a:pPr algn="ctr"/>
                      <a:r>
                        <a:rPr sz="1200" b="1">
                          <a:solidFill>
                            <a:srgbClr val="FFFFFF"/>
                          </a:solidFill>
                          <a:latin typeface="Calibri"/>
                        </a:rPr>
                        <a:t>Taariq Mohamed</a:t>
                      </a:r>
                    </a:p>
                  </a:txBody>
                  <a:tcPr anchor="ctr">
                    <a:solidFill>
                      <a:srgbClr val="E10600"/>
                    </a:solidFill>
                  </a:tcPr>
                </a:tc>
                <a:tc>
                  <a:txBody>
                    <a:bodyPr/>
                    <a:lstStyle/>
                    <a:p>
                      <a:pPr algn="ctr"/>
                      <a:r>
                        <a:rPr sz="1200" b="1">
                          <a:solidFill>
                            <a:srgbClr val="FFFFFF"/>
                          </a:solidFill>
                          <a:latin typeface="Calibri"/>
                        </a:rPr>
                        <a:t>Huy Nguyen</a:t>
                      </a:r>
                    </a:p>
                  </a:txBody>
                  <a:tcPr anchor="ctr">
                    <a:solidFill>
                      <a:srgbClr val="E10600"/>
                    </a:solidFill>
                  </a:tcPr>
                </a:tc>
                <a:tc>
                  <a:txBody>
                    <a:bodyPr/>
                    <a:lstStyle/>
                    <a:p>
                      <a:pPr algn="ctr"/>
                      <a:r>
                        <a:rPr sz="1200" b="1">
                          <a:solidFill>
                            <a:srgbClr val="FFFFFF"/>
                          </a:solidFill>
                          <a:latin typeface="Calibri"/>
                        </a:rPr>
                        <a:t>Total</a:t>
                      </a:r>
                    </a:p>
                  </a:txBody>
                  <a:tcPr anchor="ctr">
                    <a:solidFill>
                      <a:srgbClr val="E10600"/>
                    </a:solidFill>
                  </a:tcPr>
                </a:tc>
              </a:tr>
              <a:tr h="388620">
                <a:tc>
                  <a:txBody>
                    <a:bodyPr/>
                    <a:lstStyle/>
                    <a:p>
                      <a:pPr algn="l"/>
                      <a:r>
                        <a:rPr sz="1200" b="1">
                          <a:solidFill>
                            <a:srgbClr val="1C1B1A"/>
                          </a:solidFill>
                          <a:latin typeface="Calibri"/>
                        </a:rPr>
                        <a:t>UPI</a:t>
                      </a:r>
                    </a:p>
                  </a:txBody>
                  <a:tcPr anchor="ctr">
                    <a:solidFill>
                      <a:srgbClr val="FFFFFF"/>
                    </a:solidFill>
                  </a:tcPr>
                </a:tc>
                <a:tc>
                  <a:txBody>
                    <a:bodyPr/>
                    <a:lstStyle/>
                    <a:p>
                      <a:pPr algn="ctr"/>
                      <a:r>
                        <a:rPr sz="1200" b="0">
                          <a:solidFill>
                            <a:srgbClr val="1C1B1A"/>
                          </a:solidFill>
                          <a:latin typeface="Calibri"/>
                        </a:rPr>
                        <a:t>dyua155</a:t>
                      </a:r>
                    </a:p>
                  </a:txBody>
                  <a:tcPr anchor="ctr">
                    <a:solidFill>
                      <a:srgbClr val="FFFFFF"/>
                    </a:solidFill>
                  </a:tcPr>
                </a:tc>
                <a:tc>
                  <a:txBody>
                    <a:bodyPr/>
                    <a:lstStyle/>
                    <a:p>
                      <a:pPr algn="ctr"/>
                      <a:r>
                        <a:rPr sz="1200" b="0">
                          <a:solidFill>
                            <a:srgbClr val="1C1B1A"/>
                          </a:solidFill>
                          <a:latin typeface="Calibri"/>
                        </a:rPr>
                        <a:t>tmoh716</a:t>
                      </a:r>
                    </a:p>
                  </a:txBody>
                  <a:tcPr anchor="ctr">
                    <a:solidFill>
                      <a:srgbClr val="FFFFFF"/>
                    </a:solidFill>
                  </a:tcPr>
                </a:tc>
                <a:tc>
                  <a:txBody>
                    <a:bodyPr/>
                    <a:lstStyle/>
                    <a:p>
                      <a:pPr algn="ctr"/>
                      <a:r>
                        <a:rPr sz="1200" b="0">
                          <a:solidFill>
                            <a:srgbClr val="1C1B1A"/>
                          </a:solidFill>
                          <a:latin typeface="Calibri"/>
                        </a:rPr>
                        <a:t>hugn456</a:t>
                      </a:r>
                    </a:p>
                  </a:txBody>
                  <a:tcPr anchor="ctr">
                    <a:solidFill>
                      <a:srgbClr val="FFFFFF"/>
                    </a:solidFill>
                  </a:tcPr>
                </a:tc>
                <a:tc>
                  <a:txBody>
                    <a:bodyPr/>
                    <a:lstStyle/>
                    <a:p>
                      <a:pPr algn="ctr"/>
                    </a:p>
                  </a:txBody>
                  <a:tcPr anchor="ctr">
                    <a:solidFill>
                      <a:srgbClr val="FFFFFF"/>
                    </a:solidFill>
                  </a:tcPr>
                </a:tc>
              </a:tr>
              <a:tr h="388620">
                <a:tc>
                  <a:txBody>
                    <a:bodyPr/>
                    <a:lstStyle/>
                    <a:p>
                      <a:pPr algn="l"/>
                      <a:r>
                        <a:rPr sz="1200" b="1">
                          <a:solidFill>
                            <a:srgbClr val="1C1B1A"/>
                          </a:solidFill>
                          <a:latin typeface="Calibri"/>
                        </a:rPr>
                        <a:t>% Contribution</a:t>
                      </a:r>
                    </a:p>
                  </a:txBody>
                  <a:tcPr anchor="ctr">
                    <a:solidFill>
                      <a:srgbClr val="F6F3EF"/>
                    </a:solidFill>
                  </a:tcPr>
                </a:tc>
                <a:tc>
                  <a:txBody>
                    <a:bodyPr/>
                    <a:lstStyle/>
                    <a:p>
                      <a:pPr algn="ctr"/>
                      <a:r>
                        <a:rPr sz="1200" b="0">
                          <a:solidFill>
                            <a:srgbClr val="1C1B1A"/>
                          </a:solidFill>
                          <a:latin typeface="Calibri"/>
                        </a:rPr>
                        <a:t>34%</a:t>
                      </a:r>
                    </a:p>
                  </a:txBody>
                  <a:tcPr anchor="ctr">
                    <a:solidFill>
                      <a:srgbClr val="F6F3EF"/>
                    </a:solidFill>
                  </a:tcPr>
                </a:tc>
                <a:tc>
                  <a:txBody>
                    <a:bodyPr/>
                    <a:lstStyle/>
                    <a:p>
                      <a:pPr algn="ctr"/>
                      <a:r>
                        <a:rPr sz="1200" b="0">
                          <a:solidFill>
                            <a:srgbClr val="1C1B1A"/>
                          </a:solidFill>
                          <a:latin typeface="Calibri"/>
                        </a:rPr>
                        <a:t>33%</a:t>
                      </a:r>
                    </a:p>
                  </a:txBody>
                  <a:tcPr anchor="ctr">
                    <a:solidFill>
                      <a:srgbClr val="F6F3EF"/>
                    </a:solidFill>
                  </a:tcPr>
                </a:tc>
                <a:tc>
                  <a:txBody>
                    <a:bodyPr/>
                    <a:lstStyle/>
                    <a:p>
                      <a:pPr algn="ctr"/>
                      <a:r>
                        <a:rPr sz="1200" b="0">
                          <a:solidFill>
                            <a:srgbClr val="1C1B1A"/>
                          </a:solidFill>
                          <a:latin typeface="Calibri"/>
                        </a:rPr>
                        <a:t>33%</a:t>
                      </a:r>
                    </a:p>
                  </a:txBody>
                  <a:tcPr anchor="ctr">
                    <a:solidFill>
                      <a:srgbClr val="F6F3EF"/>
                    </a:solidFill>
                  </a:tcPr>
                </a:tc>
                <a:tc>
                  <a:txBody>
                    <a:bodyPr/>
                    <a:lstStyle/>
                    <a:p>
                      <a:pPr algn="ctr"/>
                      <a:r>
                        <a:rPr sz="1200" b="0">
                          <a:solidFill>
                            <a:srgbClr val="1C1B1A"/>
                          </a:solidFill>
                          <a:latin typeface="Calibri"/>
                        </a:rPr>
                        <a:t>100%</a:t>
                      </a:r>
                    </a:p>
                  </a:txBody>
                  <a:tcPr anchor="ctr">
                    <a:solidFill>
                      <a:srgbClr val="F6F3EF"/>
                    </a:solidFill>
                  </a:tcPr>
                </a:tc>
              </a:tr>
              <a:tr h="388620">
                <a:tc>
                  <a:txBody>
                    <a:bodyPr/>
                    <a:lstStyle/>
                    <a:p>
                      <a:pPr algn="l"/>
                      <a:r>
                        <a:rPr sz="1200" b="1">
                          <a:solidFill>
                            <a:srgbClr val="1C1B1A"/>
                          </a:solidFill>
                          <a:latin typeface="Calibri"/>
                        </a:rPr>
                        <a:t>Comments</a:t>
                      </a:r>
                    </a:p>
                  </a:txBody>
                  <a:tcPr anchor="ctr">
                    <a:solidFill>
                      <a:srgbClr val="FFFFFF"/>
                    </a:solidFill>
                  </a:tcPr>
                </a:tc>
                <a:tc>
                  <a:txBody>
                    <a:bodyPr/>
                    <a:lstStyle/>
                    <a:p>
                      <a:pPr algn="ctr"/>
                      <a:r>
                        <a:rPr sz="1200" b="0">
                          <a:solidFill>
                            <a:srgbClr val="1C1B1A"/>
                          </a:solidFill>
                          <a:latin typeface="Calibri"/>
                        </a:rPr>
                        <a:t>Equal split</a:t>
                      </a:r>
                    </a:p>
                  </a:txBody>
                  <a:tcPr anchor="ctr">
                    <a:solidFill>
                      <a:srgbClr val="FFFFFF"/>
                    </a:solidFill>
                  </a:tcPr>
                </a:tc>
                <a:tc>
                  <a:txBody>
                    <a:bodyPr/>
                    <a:lstStyle/>
                    <a:p>
                      <a:pPr algn="ctr"/>
                      <a:r>
                        <a:rPr sz="1200" b="0">
                          <a:solidFill>
                            <a:srgbClr val="1C1B1A"/>
                          </a:solidFill>
                          <a:latin typeface="Calibri"/>
                        </a:rPr>
                        <a:t>Equal split</a:t>
                      </a:r>
                    </a:p>
                  </a:txBody>
                  <a:tcPr anchor="ctr">
                    <a:solidFill>
                      <a:srgbClr val="FFFFFF"/>
                    </a:solidFill>
                  </a:tcPr>
                </a:tc>
                <a:tc>
                  <a:txBody>
                    <a:bodyPr/>
                    <a:lstStyle/>
                    <a:p>
                      <a:pPr algn="ctr"/>
                      <a:r>
                        <a:rPr sz="1200" b="0">
                          <a:solidFill>
                            <a:srgbClr val="1C1B1A"/>
                          </a:solidFill>
                          <a:latin typeface="Calibri"/>
                        </a:rPr>
                        <a:t>Equal split</a:t>
                      </a:r>
                    </a:p>
                  </a:txBody>
                  <a:tcPr anchor="ctr">
                    <a:solidFill>
                      <a:srgbClr val="FFFFFF"/>
                    </a:solidFill>
                  </a:tcPr>
                </a:tc>
                <a:tc>
                  <a:txBody>
                    <a:bodyPr/>
                    <a:lstStyle/>
                    <a:p>
                      <a:pPr algn="ctr"/>
                      <a:r>
                        <a:rPr sz="1200" b="0">
                          <a:solidFill>
                            <a:srgbClr val="1C1B1A"/>
                          </a:solidFill>
                          <a:latin typeface="Calibri"/>
                        </a:rPr>
                        <a:t>Rounding</a:t>
                      </a:r>
                    </a:p>
                  </a:txBody>
                  <a:tcPr anchor="ctr">
                    <a:solidFill>
                      <a:srgbClr val="FFFFFF"/>
                    </a:solidFill>
                  </a:tcPr>
                </a:tc>
              </a:tr>
            </a:tbl>
          </a:graphicData>
        </a:graphic>
      </p:graphicFrame>
      <p:sp>
        <p:nvSpPr>
          <p:cNvPr id="8" name="TextBox 7"/>
          <p:cNvSpPr txBox="1"/>
          <p:nvPr/>
        </p:nvSpPr>
        <p:spPr>
          <a:xfrm>
            <a:off x="365760" y="3520440"/>
            <a:ext cx="11430000" cy="1051560"/>
          </a:xfrm>
          <a:prstGeom prst="rect">
            <a:avLst/>
          </a:prstGeom>
          <a:noFill/>
        </p:spPr>
        <p:txBody>
          <a:bodyPr wrap="square">
            <a:spAutoFit/>
          </a:bodyPr>
          <a:lstStyle/>
          <a:p>
            <a:pPr algn="l"/>
            <a:r>
              <a:rPr sz="1300" b="0">
                <a:solidFill>
                  <a:srgbClr val="1C1B1A"/>
                </a:solidFill>
                <a:latin typeface="Calibri"/>
              </a:rPr>
              <a:t>Criteria explanation:
1. UPI: Enter each team member’s UPI.
2. % Contribution: Enter a percentage for each member. The figures must add up to 100%.
3. Comments (optional): Add a comment where the percentage needs context.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Kmart Delivery Assist</dc:title>
  <dc:subject>INFOSYS 704 Lab 12 prototype pitch</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