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Good morning. We are here to show the customer face of delivery recovery. The app is open. I will spend most of the five minutes inside it. Title only. Do not read the subtitle.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 to 0:50. Situation only. Kmart has already invested in fulfilment. The sales order, the outbound delivery and the freight order exist. What the customer meets is still a carrier page and a call. Stop. Do not mention the matrix yet.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to 1:20. Complication. Say the three lines slowly. End on this sentence: the customer cannot finish the recovery, so the order stays an exception. Then go to the resolution.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1:20 to 1:50. Read the six steps only as a path, not as a list to memorise. Point at the screen if the app is already projected. Tell them the demo order is KM185002, the damaged storage box. The cushion in the same order is fine, so a refund is eighteen dollars, not thirty.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1:50 to 2:15. This is the effort-impact choice. We did not drop the proposal. Routing automation is still the later, heavier step. A status page does not recover the order. Rebuilding order management duplicates what SAP already holds. Delivery Assist is the step we can implement, and it is the step the customer feels. One breath, then design.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2:15 to 2:40. Design thinking in one pass: empathise, define, ideate, prototype, test. Then the API change, because this is option 2. Say plainly: we did not pretend the billing API creates a refund. It can read, reject or delete. The service request is the write. AS-IS is carrier page plus call centre. TO-BE is these six steps. Usability, if asked: status stays on screen, words are the customer's, choices are visible, a refund is confirmed twice, and a healthy order is not forced into a problem. That is Nielsen, applied, not recited. Switch to the app.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2:40 to 4:20. Leave this slide only if the app is not yet on screen. Preferred: the app is already full screen and you do not linger here. Clicks: Storage box. See the problem. This is the problem. Continue, replacement is already selected. Check for an update. Check again. Review the outcome. Confirm replacement. Open the SAP service request and point at the sales order 450218 and the service request API. If time remains, say the lamp order offers redelivery, store collection or a full refund. Do not hunt for menus.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4:20 to 4:45. Close on the ask, not a summary of every slide. Today the customer can finish the recovery. The heavier routing work stays later. A refund is a decision, not a side effect. Thank them and take one question. Then the disclaimer slide is for the upload, not for a speech.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spend speaking time here unless asked. This slide has to be last in the file. Fill the three UPIs before Canvas upload. Confirm 34/33/33 with Taariq and Huy. If the split changes, change the percentages so they still total 100.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1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10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1417320"/>
            <a:ext cx="9144000" cy="365760"/>
          </a:xfrm>
          <a:prstGeom prst="rect">
            <a:avLst/>
          </a:prstGeom>
          <a:noFill/>
        </p:spPr>
        <p:txBody>
          <a:bodyPr wrap="square">
            <a:spAutoFit/>
          </a:bodyPr>
          <a:lstStyle/>
          <a:p>
            <a:pPr algn="l"/>
            <a:r>
              <a:rPr sz="1800" b="1">
                <a:solidFill>
                  <a:srgbClr val="E10600"/>
                </a:solidFill>
                <a:latin typeface="Calibri"/>
              </a:rPr>
              <a:t>KMART</a:t>
            </a:r>
          </a:p>
        </p:txBody>
      </p:sp>
      <p:sp>
        <p:nvSpPr>
          <p:cNvPr id="5" name="TextBox 4"/>
          <p:cNvSpPr txBox="1"/>
          <p:nvPr/>
        </p:nvSpPr>
        <p:spPr>
          <a:xfrm>
            <a:off x="777240" y="1874519"/>
            <a:ext cx="10058400" cy="1280160"/>
          </a:xfrm>
          <a:prstGeom prst="rect">
            <a:avLst/>
          </a:prstGeom>
          <a:noFill/>
        </p:spPr>
        <p:txBody>
          <a:bodyPr wrap="square">
            <a:spAutoFit/>
          </a:bodyPr>
          <a:lstStyle/>
          <a:p>
            <a:pPr algn="l"/>
            <a:r>
              <a:rPr sz="6000" b="1">
                <a:solidFill>
                  <a:srgbClr val="FFFFFF"/>
                </a:solidFill>
                <a:latin typeface="Calibri"/>
              </a:rPr>
              <a:t>Delivery Assist</a:t>
            </a:r>
          </a:p>
        </p:txBody>
      </p:sp>
      <p:sp>
        <p:nvSpPr>
          <p:cNvPr id="6" name="TextBox 5"/>
          <p:cNvSpPr txBox="1"/>
          <p:nvPr/>
        </p:nvSpPr>
        <p:spPr>
          <a:xfrm>
            <a:off x="777240" y="3246120"/>
            <a:ext cx="9144000" cy="1005840"/>
          </a:xfrm>
          <a:prstGeom prst="rect">
            <a:avLst/>
          </a:prstGeom>
          <a:noFill/>
        </p:spPr>
        <p:txBody>
          <a:bodyPr wrap="square">
            <a:spAutoFit/>
          </a:bodyPr>
          <a:lstStyle/>
          <a:p>
            <a:pPr algn="l"/>
            <a:r>
              <a:rPr sz="2400" b="0">
                <a:solidFill>
                  <a:srgbClr val="E6E0D8"/>
                </a:solidFill>
                <a:latin typeface="Calibri"/>
              </a:rPr>
              <a:t>See the order. Understand the problem.
Choose the recovery. Finish it.</a:t>
            </a:r>
          </a:p>
        </p:txBody>
      </p:sp>
      <p:sp>
        <p:nvSpPr>
          <p:cNvPr id="7" name="TextBox 6"/>
          <p:cNvSpPr txBox="1"/>
          <p:nvPr/>
        </p:nvSpPr>
        <p:spPr>
          <a:xfrm>
            <a:off x="777240" y="5212080"/>
            <a:ext cx="9144000" cy="731520"/>
          </a:xfrm>
          <a:prstGeom prst="rect">
            <a:avLst/>
          </a:prstGeom>
          <a:noFill/>
        </p:spPr>
        <p:txBody>
          <a:bodyPr wrap="square">
            <a:spAutoFit/>
          </a:bodyPr>
          <a:lstStyle/>
          <a:p>
            <a:pPr algn="l"/>
            <a:r>
              <a:rPr sz="1600" b="0">
                <a:solidFill>
                  <a:srgbClr val="C8C2BA"/>
                </a:solidFill>
                <a:latin typeface="Calibri"/>
              </a:rPr>
              <a:t>Dingchen Yuan   ·   Taariq Mohamed   ·   Huy Nguyen
WES  ·  SAP Build 13  ·  five minutes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10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10528"/>
            <a:ext cx="7315200" cy="256032"/>
          </a:xfrm>
          <a:prstGeom prst="rect">
            <a:avLst/>
          </a:prstGeom>
          <a:noFill/>
        </p:spPr>
        <p:txBody>
          <a:bodyPr wrap="square">
            <a:spAutoFit/>
          </a:bodyPr>
          <a:lstStyle/>
          <a:p>
            <a:pPr algn="l"/>
            <a:r>
              <a:rPr sz="1200" b="0">
                <a:solidFill>
                  <a:srgbClr val="5E5A55"/>
                </a:solidFill>
                <a:latin typeface="Calibri"/>
              </a:rPr>
              <a:t>Kmart Delivery Assist  ·  Managing Director</a:t>
            </a:r>
          </a:p>
        </p:txBody>
      </p:sp>
      <p:sp>
        <p:nvSpPr>
          <p:cNvPr id="5" name="TextBox 4"/>
          <p:cNvSpPr txBox="1"/>
          <p:nvPr/>
        </p:nvSpPr>
        <p:spPr>
          <a:xfrm>
            <a:off x="9509760" y="6510528"/>
            <a:ext cx="2194560" cy="256032"/>
          </a:xfrm>
          <a:prstGeom prst="rect">
            <a:avLst/>
          </a:prstGeom>
          <a:noFill/>
        </p:spPr>
        <p:txBody>
          <a:bodyPr wrap="square">
            <a:spAutoFit/>
          </a:bodyPr>
          <a:lstStyle/>
          <a:p>
            <a:pPr algn="r"/>
            <a:r>
              <a:rPr sz="1200" b="0">
                <a:solidFill>
                  <a:srgbClr val="5E5A55"/>
                </a:solidFill>
                <a:latin typeface="Calibri"/>
              </a:rPr>
              <a:t>2  /  9</a:t>
            </a:r>
          </a:p>
        </p:txBody>
      </p:sp>
      <p:sp>
        <p:nvSpPr>
          <p:cNvPr id="6" name="TextBox 5"/>
          <p:cNvSpPr txBox="1"/>
          <p:nvPr/>
        </p:nvSpPr>
        <p:spPr>
          <a:xfrm>
            <a:off x="502920" y="320040"/>
            <a:ext cx="3657600" cy="274320"/>
          </a:xfrm>
          <a:prstGeom prst="rect">
            <a:avLst/>
          </a:prstGeom>
          <a:noFill/>
        </p:spPr>
        <p:txBody>
          <a:bodyPr wrap="square">
            <a:spAutoFit/>
          </a:bodyPr>
          <a:lstStyle/>
          <a:p>
            <a:pPr algn="l"/>
            <a:r>
              <a:rPr sz="1400" b="1">
                <a:solidFill>
                  <a:srgbClr val="E10600"/>
                </a:solidFill>
                <a:latin typeface="Calibri"/>
              </a:rPr>
              <a:t>SITUATION</a:t>
            </a:r>
          </a:p>
        </p:txBody>
      </p:sp>
      <p:sp>
        <p:nvSpPr>
          <p:cNvPr id="7" name="TextBox 6"/>
          <p:cNvSpPr txBox="1"/>
          <p:nvPr/>
        </p:nvSpPr>
        <p:spPr>
          <a:xfrm>
            <a:off x="502920" y="685800"/>
            <a:ext cx="10972800" cy="1188720"/>
          </a:xfrm>
          <a:prstGeom prst="rect">
            <a:avLst/>
          </a:prstGeom>
          <a:noFill/>
        </p:spPr>
        <p:txBody>
          <a:bodyPr wrap="square">
            <a:spAutoFit/>
          </a:bodyPr>
          <a:lstStyle/>
          <a:p>
            <a:pPr algn="l"/>
            <a:r>
              <a:rPr sz="3200" b="1">
                <a:solidFill>
                  <a:srgbClr val="1C1B1A"/>
                </a:solidFill>
                <a:latin typeface="Calibri"/>
              </a:rPr>
              <a:t>The order is already in the business.
The customer still cannot see one story.</a:t>
            </a:r>
          </a:p>
        </p:txBody>
      </p:sp>
      <p:sp>
        <p:nvSpPr>
          <p:cNvPr id="8" name="Rectangle 7"/>
          <p:cNvSpPr/>
          <p:nvPr/>
        </p:nvSpPr>
        <p:spPr>
          <a:xfrm>
            <a:off x="502920" y="2880360"/>
            <a:ext cx="3566160" cy="3017520"/>
          </a:xfrm>
          <a:prstGeom prst="rect">
            <a:avLst/>
          </a:prstGeom>
          <a:solidFill>
            <a:srgbClr val="F6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108960"/>
            <a:ext cx="3108960" cy="1188720"/>
          </a:xfrm>
          <a:prstGeom prst="rect">
            <a:avLst/>
          </a:prstGeom>
          <a:noFill/>
        </p:spPr>
        <p:txBody>
          <a:bodyPr wrap="square">
            <a:spAutoFit/>
          </a:bodyPr>
          <a:lstStyle/>
          <a:p>
            <a:pPr algn="l"/>
            <a:r>
              <a:rPr sz="2200" b="1">
                <a:solidFill>
                  <a:srgbClr val="1C1B1A"/>
                </a:solidFill>
                <a:latin typeface="Calibri"/>
              </a:rPr>
              <a:t>Capital is in delivery</a:t>
            </a:r>
          </a:p>
        </p:txBody>
      </p:sp>
      <p:sp>
        <p:nvSpPr>
          <p:cNvPr id="10" name="TextBox 9"/>
          <p:cNvSpPr txBox="1"/>
          <p:nvPr/>
        </p:nvSpPr>
        <p:spPr>
          <a:xfrm>
            <a:off x="731520" y="4389120"/>
            <a:ext cx="3108960" cy="1188720"/>
          </a:xfrm>
          <a:prstGeom prst="rect">
            <a:avLst/>
          </a:prstGeom>
          <a:noFill/>
        </p:spPr>
        <p:txBody>
          <a:bodyPr wrap="square">
            <a:spAutoFit/>
          </a:bodyPr>
          <a:lstStyle/>
          <a:p>
            <a:pPr algn="l"/>
            <a:r>
              <a:rPr sz="1600" b="0">
                <a:solidFill>
                  <a:srgbClr val="5E5A55"/>
                </a:solidFill>
                <a:latin typeface="Calibri"/>
              </a:rPr>
              <a:t>CFCs and the online order system are there to make delivery faster and cheaper.</a:t>
            </a:r>
          </a:p>
        </p:txBody>
      </p:sp>
      <p:sp>
        <p:nvSpPr>
          <p:cNvPr id="11" name="Rectangle 10"/>
          <p:cNvSpPr/>
          <p:nvPr/>
        </p:nvSpPr>
        <p:spPr>
          <a:xfrm>
            <a:off x="4297680" y="2880360"/>
            <a:ext cx="3566160" cy="3017520"/>
          </a:xfrm>
          <a:prstGeom prst="rect">
            <a:avLst/>
          </a:prstGeom>
          <a:solidFill>
            <a:srgbClr val="F6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3108960"/>
            <a:ext cx="3108960" cy="1188720"/>
          </a:xfrm>
          <a:prstGeom prst="rect">
            <a:avLst/>
          </a:prstGeom>
          <a:noFill/>
        </p:spPr>
        <p:txBody>
          <a:bodyPr wrap="square">
            <a:spAutoFit/>
          </a:bodyPr>
          <a:lstStyle/>
          <a:p>
            <a:pPr algn="l"/>
            <a:r>
              <a:rPr sz="2200" b="1">
                <a:solidFill>
                  <a:srgbClr val="1C1B1A"/>
                </a:solidFill>
                <a:latin typeface="Calibri"/>
              </a:rPr>
              <a:t>The order has a record</a:t>
            </a:r>
          </a:p>
        </p:txBody>
      </p:sp>
      <p:sp>
        <p:nvSpPr>
          <p:cNvPr id="13" name="TextBox 12"/>
          <p:cNvSpPr txBox="1"/>
          <p:nvPr/>
        </p:nvSpPr>
        <p:spPr>
          <a:xfrm>
            <a:off x="4526280" y="4389120"/>
            <a:ext cx="3108960" cy="1188720"/>
          </a:xfrm>
          <a:prstGeom prst="rect">
            <a:avLst/>
          </a:prstGeom>
          <a:noFill/>
        </p:spPr>
        <p:txBody>
          <a:bodyPr wrap="square">
            <a:spAutoFit/>
          </a:bodyPr>
          <a:lstStyle/>
          <a:p>
            <a:pPr algn="l"/>
            <a:r>
              <a:rPr sz="1600" b="0">
                <a:solidFill>
                  <a:srgbClr val="5E5A55"/>
                </a:solidFill>
                <a:latin typeface="Calibri"/>
              </a:rPr>
              <a:t>A sales order, an outbound delivery and a freight order already describe the journey.</a:t>
            </a:r>
          </a:p>
        </p:txBody>
      </p:sp>
      <p:sp>
        <p:nvSpPr>
          <p:cNvPr id="14" name="Rectangle 13"/>
          <p:cNvSpPr/>
          <p:nvPr/>
        </p:nvSpPr>
        <p:spPr>
          <a:xfrm>
            <a:off x="8092440" y="2880360"/>
            <a:ext cx="3566160" cy="3017520"/>
          </a:xfrm>
          <a:prstGeom prst="rect">
            <a:avLst/>
          </a:prstGeom>
          <a:solidFill>
            <a:srgbClr val="F6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3108960"/>
            <a:ext cx="3108960" cy="1188720"/>
          </a:xfrm>
          <a:prstGeom prst="rect">
            <a:avLst/>
          </a:prstGeom>
          <a:noFill/>
        </p:spPr>
        <p:txBody>
          <a:bodyPr wrap="square">
            <a:spAutoFit/>
          </a:bodyPr>
          <a:lstStyle/>
          <a:p>
            <a:pPr algn="l"/>
            <a:r>
              <a:rPr sz="2200" b="1">
                <a:solidFill>
                  <a:srgbClr val="1C1B1A"/>
                </a:solidFill>
                <a:latin typeface="Calibri"/>
              </a:rPr>
              <a:t>The customer gets fragments</a:t>
            </a:r>
          </a:p>
        </p:txBody>
      </p:sp>
      <p:sp>
        <p:nvSpPr>
          <p:cNvPr id="16" name="TextBox 15"/>
          <p:cNvSpPr txBox="1"/>
          <p:nvPr/>
        </p:nvSpPr>
        <p:spPr>
          <a:xfrm>
            <a:off x="8321040" y="4389120"/>
            <a:ext cx="3108960" cy="1188720"/>
          </a:xfrm>
          <a:prstGeom prst="rect">
            <a:avLst/>
          </a:prstGeom>
          <a:noFill/>
        </p:spPr>
        <p:txBody>
          <a:bodyPr wrap="square">
            <a:spAutoFit/>
          </a:bodyPr>
          <a:lstStyle/>
          <a:p>
            <a:pPr algn="l"/>
            <a:r>
              <a:rPr sz="1600" b="0">
                <a:solidFill>
                  <a:srgbClr val="5E5A55"/>
                </a:solidFill>
                <a:latin typeface="Calibri"/>
              </a:rPr>
              <a:t>A carrier page, then a phone call, then a refund somewhere else.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10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10528"/>
            <a:ext cx="7315200" cy="256032"/>
          </a:xfrm>
          <a:prstGeom prst="rect">
            <a:avLst/>
          </a:prstGeom>
          <a:noFill/>
        </p:spPr>
        <p:txBody>
          <a:bodyPr wrap="square">
            <a:spAutoFit/>
          </a:bodyPr>
          <a:lstStyle/>
          <a:p>
            <a:pPr algn="l"/>
            <a:r>
              <a:rPr sz="1200" b="0">
                <a:solidFill>
                  <a:srgbClr val="5E5A55"/>
                </a:solidFill>
                <a:latin typeface="Calibri"/>
              </a:rPr>
              <a:t>Kmart Delivery Assist  ·  Managing Director</a:t>
            </a:r>
          </a:p>
        </p:txBody>
      </p:sp>
      <p:sp>
        <p:nvSpPr>
          <p:cNvPr id="5" name="TextBox 4"/>
          <p:cNvSpPr txBox="1"/>
          <p:nvPr/>
        </p:nvSpPr>
        <p:spPr>
          <a:xfrm>
            <a:off x="9509760" y="6510528"/>
            <a:ext cx="2194560" cy="256032"/>
          </a:xfrm>
          <a:prstGeom prst="rect">
            <a:avLst/>
          </a:prstGeom>
          <a:noFill/>
        </p:spPr>
        <p:txBody>
          <a:bodyPr wrap="square">
            <a:spAutoFit/>
          </a:bodyPr>
          <a:lstStyle/>
          <a:p>
            <a:pPr algn="r"/>
            <a:r>
              <a:rPr sz="1200" b="0">
                <a:solidFill>
                  <a:srgbClr val="5E5A55"/>
                </a:solidFill>
                <a:latin typeface="Calibri"/>
              </a:rPr>
              <a:t>3  /  9</a:t>
            </a:r>
          </a:p>
        </p:txBody>
      </p:sp>
      <p:sp>
        <p:nvSpPr>
          <p:cNvPr id="6" name="TextBox 5"/>
          <p:cNvSpPr txBox="1"/>
          <p:nvPr/>
        </p:nvSpPr>
        <p:spPr>
          <a:xfrm>
            <a:off x="502920" y="320040"/>
            <a:ext cx="3657600" cy="274320"/>
          </a:xfrm>
          <a:prstGeom prst="rect">
            <a:avLst/>
          </a:prstGeom>
          <a:noFill/>
        </p:spPr>
        <p:txBody>
          <a:bodyPr wrap="square">
            <a:spAutoFit/>
          </a:bodyPr>
          <a:lstStyle/>
          <a:p>
            <a:pPr algn="l"/>
            <a:r>
              <a:rPr sz="1400" b="1">
                <a:solidFill>
                  <a:srgbClr val="E10600"/>
                </a:solidFill>
                <a:latin typeface="Calibri"/>
              </a:rPr>
              <a:t>COMPLICATION</a:t>
            </a:r>
          </a:p>
        </p:txBody>
      </p:sp>
      <p:sp>
        <p:nvSpPr>
          <p:cNvPr id="7" name="TextBox 6"/>
          <p:cNvSpPr txBox="1"/>
          <p:nvPr/>
        </p:nvSpPr>
        <p:spPr>
          <a:xfrm>
            <a:off x="502920" y="685800"/>
            <a:ext cx="10972800" cy="1371600"/>
          </a:xfrm>
          <a:prstGeom prst="rect">
            <a:avLst/>
          </a:prstGeom>
          <a:noFill/>
        </p:spPr>
        <p:txBody>
          <a:bodyPr wrap="square">
            <a:spAutoFit/>
          </a:bodyPr>
          <a:lstStyle/>
          <a:p>
            <a:pPr algn="l"/>
            <a:r>
              <a:rPr sz="3200" b="1">
                <a:solidFill>
                  <a:srgbClr val="1C1B1A"/>
                </a:solidFill>
                <a:latin typeface="Calibri"/>
              </a:rPr>
              <a:t>A failed delivery becomes an exception
nobody closes with the customer.</a:t>
            </a:r>
          </a:p>
        </p:txBody>
      </p:sp>
      <p:sp>
        <p:nvSpPr>
          <p:cNvPr id="8" name="TextBox 7"/>
          <p:cNvSpPr txBox="1"/>
          <p:nvPr/>
        </p:nvSpPr>
        <p:spPr>
          <a:xfrm>
            <a:off x="502920" y="2468880"/>
            <a:ext cx="2926080" cy="731520"/>
          </a:xfrm>
          <a:prstGeom prst="rect">
            <a:avLst/>
          </a:prstGeom>
          <a:noFill/>
        </p:spPr>
        <p:txBody>
          <a:bodyPr wrap="square">
            <a:spAutoFit/>
          </a:bodyPr>
          <a:lstStyle/>
          <a:p>
            <a:pPr algn="l"/>
            <a:r>
              <a:rPr sz="2200" b="1">
                <a:solidFill>
                  <a:srgbClr val="E10600"/>
                </a:solidFill>
                <a:latin typeface="Calibri"/>
              </a:rPr>
              <a:t>The customer</a:t>
            </a:r>
          </a:p>
        </p:txBody>
      </p:sp>
      <p:sp>
        <p:nvSpPr>
          <p:cNvPr id="9" name="TextBox 8"/>
          <p:cNvSpPr txBox="1"/>
          <p:nvPr/>
        </p:nvSpPr>
        <p:spPr>
          <a:xfrm>
            <a:off x="3474720" y="2468880"/>
            <a:ext cx="7863840" cy="822960"/>
          </a:xfrm>
          <a:prstGeom prst="rect">
            <a:avLst/>
          </a:prstGeom>
          <a:noFill/>
        </p:spPr>
        <p:txBody>
          <a:bodyPr wrap="square">
            <a:spAutoFit/>
          </a:bodyPr>
          <a:lstStyle/>
          <a:p>
            <a:pPr algn="l"/>
            <a:r>
              <a:rPr sz="2200" b="0">
                <a:solidFill>
                  <a:srgbClr val="1C1B1A"/>
                </a:solidFill>
                <a:latin typeface="Calibri"/>
              </a:rPr>
              <a:t>Cannot tell a delay from a failed attempt, or choose the next step.</a:t>
            </a:r>
          </a:p>
        </p:txBody>
      </p:sp>
      <p:sp>
        <p:nvSpPr>
          <p:cNvPr id="10" name="TextBox 9"/>
          <p:cNvSpPr txBox="1"/>
          <p:nvPr/>
        </p:nvSpPr>
        <p:spPr>
          <a:xfrm>
            <a:off x="502920" y="3611880"/>
            <a:ext cx="2926080" cy="731520"/>
          </a:xfrm>
          <a:prstGeom prst="rect">
            <a:avLst/>
          </a:prstGeom>
          <a:noFill/>
        </p:spPr>
        <p:txBody>
          <a:bodyPr wrap="square">
            <a:spAutoFit/>
          </a:bodyPr>
          <a:lstStyle/>
          <a:p>
            <a:pPr algn="l"/>
            <a:r>
              <a:rPr sz="2200" b="1">
                <a:solidFill>
                  <a:srgbClr val="E10600"/>
                </a:solidFill>
                <a:latin typeface="Calibri"/>
              </a:rPr>
              <a:t>The order</a:t>
            </a:r>
          </a:p>
        </p:txBody>
      </p:sp>
      <p:sp>
        <p:nvSpPr>
          <p:cNvPr id="11" name="TextBox 10"/>
          <p:cNvSpPr txBox="1"/>
          <p:nvPr/>
        </p:nvSpPr>
        <p:spPr>
          <a:xfrm>
            <a:off x="3474720" y="3611880"/>
            <a:ext cx="7863840" cy="822960"/>
          </a:xfrm>
          <a:prstGeom prst="rect">
            <a:avLst/>
          </a:prstGeom>
          <a:noFill/>
        </p:spPr>
        <p:txBody>
          <a:bodyPr wrap="square">
            <a:spAutoFit/>
          </a:bodyPr>
          <a:lstStyle/>
          <a:p>
            <a:pPr algn="l"/>
            <a:r>
              <a:rPr sz="2200" b="0">
                <a:solidFill>
                  <a:srgbClr val="1C1B1A"/>
                </a:solidFill>
                <a:latin typeface="Calibri"/>
              </a:rPr>
              <a:t>Waits. A redelivery, a collection, a replacement or a refund are separate queues.</a:t>
            </a:r>
          </a:p>
        </p:txBody>
      </p:sp>
      <p:sp>
        <p:nvSpPr>
          <p:cNvPr id="12" name="TextBox 11"/>
          <p:cNvSpPr txBox="1"/>
          <p:nvPr/>
        </p:nvSpPr>
        <p:spPr>
          <a:xfrm>
            <a:off x="502920" y="4754880"/>
            <a:ext cx="2926080" cy="731520"/>
          </a:xfrm>
          <a:prstGeom prst="rect">
            <a:avLst/>
          </a:prstGeom>
          <a:noFill/>
        </p:spPr>
        <p:txBody>
          <a:bodyPr wrap="square">
            <a:spAutoFit/>
          </a:bodyPr>
          <a:lstStyle/>
          <a:p>
            <a:pPr algn="l"/>
            <a:r>
              <a:rPr sz="2200" b="1">
                <a:solidFill>
                  <a:srgbClr val="E10600"/>
                </a:solidFill>
                <a:latin typeface="Calibri"/>
              </a:rPr>
              <a:t>The result</a:t>
            </a:r>
          </a:p>
        </p:txBody>
      </p:sp>
      <p:sp>
        <p:nvSpPr>
          <p:cNvPr id="13" name="TextBox 12"/>
          <p:cNvSpPr txBox="1"/>
          <p:nvPr/>
        </p:nvSpPr>
        <p:spPr>
          <a:xfrm>
            <a:off x="3474720" y="4754880"/>
            <a:ext cx="7863840" cy="822960"/>
          </a:xfrm>
          <a:prstGeom prst="rect">
            <a:avLst/>
          </a:prstGeom>
          <a:noFill/>
        </p:spPr>
        <p:txBody>
          <a:bodyPr wrap="square">
            <a:spAutoFit/>
          </a:bodyPr>
          <a:lstStyle/>
          <a:p>
            <a:pPr algn="l"/>
            <a:r>
              <a:rPr sz="2200" b="0">
                <a:solidFill>
                  <a:srgbClr val="1C1B1A"/>
                </a:solidFill>
                <a:latin typeface="Calibri"/>
              </a:rPr>
              <a:t>Service slips, and a completed order — the outcome the programme protects — is lost.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10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10528"/>
            <a:ext cx="7315200" cy="256032"/>
          </a:xfrm>
          <a:prstGeom prst="rect">
            <a:avLst/>
          </a:prstGeom>
          <a:noFill/>
        </p:spPr>
        <p:txBody>
          <a:bodyPr wrap="square">
            <a:spAutoFit/>
          </a:bodyPr>
          <a:lstStyle/>
          <a:p>
            <a:pPr algn="l"/>
            <a:r>
              <a:rPr sz="1200" b="0">
                <a:solidFill>
                  <a:srgbClr val="5E5A55"/>
                </a:solidFill>
                <a:latin typeface="Calibri"/>
              </a:rPr>
              <a:t>Kmart Delivery Assist  ·  Managing Director</a:t>
            </a:r>
          </a:p>
        </p:txBody>
      </p:sp>
      <p:sp>
        <p:nvSpPr>
          <p:cNvPr id="5" name="TextBox 4"/>
          <p:cNvSpPr txBox="1"/>
          <p:nvPr/>
        </p:nvSpPr>
        <p:spPr>
          <a:xfrm>
            <a:off x="9509760" y="6510528"/>
            <a:ext cx="2194560" cy="256032"/>
          </a:xfrm>
          <a:prstGeom prst="rect">
            <a:avLst/>
          </a:prstGeom>
          <a:noFill/>
        </p:spPr>
        <p:txBody>
          <a:bodyPr wrap="square">
            <a:spAutoFit/>
          </a:bodyPr>
          <a:lstStyle/>
          <a:p>
            <a:pPr algn="r"/>
            <a:r>
              <a:rPr sz="1200" b="0">
                <a:solidFill>
                  <a:srgbClr val="5E5A55"/>
                </a:solidFill>
                <a:latin typeface="Calibri"/>
              </a:rPr>
              <a:t>4  /  9</a:t>
            </a:r>
          </a:p>
        </p:txBody>
      </p:sp>
      <p:sp>
        <p:nvSpPr>
          <p:cNvPr id="6" name="TextBox 5"/>
          <p:cNvSpPr txBox="1"/>
          <p:nvPr/>
        </p:nvSpPr>
        <p:spPr>
          <a:xfrm>
            <a:off x="502920" y="320040"/>
            <a:ext cx="3657600" cy="274320"/>
          </a:xfrm>
          <a:prstGeom prst="rect">
            <a:avLst/>
          </a:prstGeom>
          <a:noFill/>
        </p:spPr>
        <p:txBody>
          <a:bodyPr wrap="square">
            <a:spAutoFit/>
          </a:bodyPr>
          <a:lstStyle/>
          <a:p>
            <a:pPr algn="l"/>
            <a:r>
              <a:rPr sz="1400" b="1">
                <a:solidFill>
                  <a:srgbClr val="E10600"/>
                </a:solidFill>
                <a:latin typeface="Calibri"/>
              </a:rPr>
              <a:t>RESOLUTION</a:t>
            </a:r>
          </a:p>
        </p:txBody>
      </p:sp>
      <p:sp>
        <p:nvSpPr>
          <p:cNvPr id="7" name="TextBox 6"/>
          <p:cNvSpPr txBox="1"/>
          <p:nvPr/>
        </p:nvSpPr>
        <p:spPr>
          <a:xfrm>
            <a:off x="502920" y="640080"/>
            <a:ext cx="10972800" cy="914400"/>
          </a:xfrm>
          <a:prstGeom prst="rect">
            <a:avLst/>
          </a:prstGeom>
          <a:noFill/>
        </p:spPr>
        <p:txBody>
          <a:bodyPr wrap="square">
            <a:spAutoFit/>
          </a:bodyPr>
          <a:lstStyle/>
          <a:p>
            <a:pPr algn="l"/>
            <a:r>
              <a:rPr sz="3200" b="1">
                <a:solidFill>
                  <a:srgbClr val="1C1B1A"/>
                </a:solidFill>
                <a:latin typeface="Calibri"/>
              </a:rPr>
              <a:t>One Kmart journey. One service request.</a:t>
            </a:r>
          </a:p>
        </p:txBody>
      </p:sp>
      <p:sp>
        <p:nvSpPr>
          <p:cNvPr id="8" name="Rectangle 7"/>
          <p:cNvSpPr/>
          <p:nvPr/>
        </p:nvSpPr>
        <p:spPr>
          <a:xfrm>
            <a:off x="457200" y="2286000"/>
            <a:ext cx="1783080" cy="2286000"/>
          </a:xfrm>
          <a:prstGeom prst="rect">
            <a:avLst/>
          </a:prstGeom>
          <a:solidFill>
            <a:srgbClr val="E10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2423160"/>
            <a:ext cx="1554480" cy="365760"/>
          </a:xfrm>
          <a:prstGeom prst="rect">
            <a:avLst/>
          </a:prstGeom>
          <a:noFill/>
        </p:spPr>
        <p:txBody>
          <a:bodyPr wrap="square">
            <a:spAutoFit/>
          </a:bodyPr>
          <a:lstStyle/>
          <a:p>
            <a:pPr algn="l"/>
            <a:r>
              <a:rPr sz="1400" b="1">
                <a:solidFill>
                  <a:srgbClr val="FFFFFF"/>
                </a:solidFill>
                <a:latin typeface="Calibri"/>
              </a:rPr>
              <a:t>01</a:t>
            </a:r>
          </a:p>
        </p:txBody>
      </p:sp>
      <p:sp>
        <p:nvSpPr>
          <p:cNvPr id="10" name="TextBox 9"/>
          <p:cNvSpPr txBox="1"/>
          <p:nvPr/>
        </p:nvSpPr>
        <p:spPr>
          <a:xfrm>
            <a:off x="566928" y="2880360"/>
            <a:ext cx="1554480" cy="1371600"/>
          </a:xfrm>
          <a:prstGeom prst="rect">
            <a:avLst/>
          </a:prstGeom>
          <a:noFill/>
        </p:spPr>
        <p:txBody>
          <a:bodyPr wrap="square">
            <a:spAutoFit/>
          </a:bodyPr>
          <a:lstStyle/>
          <a:p>
            <a:pPr algn="l"/>
            <a:r>
              <a:rPr sz="1600" b="1">
                <a:solidFill>
                  <a:srgbClr val="FFFFFF"/>
                </a:solidFill>
                <a:latin typeface="Calibri"/>
              </a:rPr>
              <a:t>Track my
order</a:t>
            </a:r>
          </a:p>
        </p:txBody>
      </p:sp>
      <p:sp>
        <p:nvSpPr>
          <p:cNvPr id="11" name="Rectangle 10"/>
          <p:cNvSpPr/>
          <p:nvPr/>
        </p:nvSpPr>
        <p:spPr>
          <a:xfrm>
            <a:off x="2395728" y="2286000"/>
            <a:ext cx="1783080" cy="2286000"/>
          </a:xfrm>
          <a:prstGeom prst="rect">
            <a:avLst/>
          </a:prstGeom>
          <a:solidFill>
            <a:srgbClr val="F6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05456" y="2423160"/>
            <a:ext cx="1554480" cy="365760"/>
          </a:xfrm>
          <a:prstGeom prst="rect">
            <a:avLst/>
          </a:prstGeom>
          <a:noFill/>
        </p:spPr>
        <p:txBody>
          <a:bodyPr wrap="square">
            <a:spAutoFit/>
          </a:bodyPr>
          <a:lstStyle/>
          <a:p>
            <a:pPr algn="l"/>
            <a:r>
              <a:rPr sz="1400" b="1">
                <a:solidFill>
                  <a:srgbClr val="E10600"/>
                </a:solidFill>
                <a:latin typeface="Calibri"/>
              </a:rPr>
              <a:t>02</a:t>
            </a:r>
          </a:p>
        </p:txBody>
      </p:sp>
      <p:sp>
        <p:nvSpPr>
          <p:cNvPr id="13" name="TextBox 12"/>
          <p:cNvSpPr txBox="1"/>
          <p:nvPr/>
        </p:nvSpPr>
        <p:spPr>
          <a:xfrm>
            <a:off x="2505456" y="2880360"/>
            <a:ext cx="1554480" cy="1371600"/>
          </a:xfrm>
          <a:prstGeom prst="rect">
            <a:avLst/>
          </a:prstGeom>
          <a:noFill/>
        </p:spPr>
        <p:txBody>
          <a:bodyPr wrap="square">
            <a:spAutoFit/>
          </a:bodyPr>
          <a:lstStyle/>
          <a:p>
            <a:pPr algn="l"/>
            <a:r>
              <a:rPr sz="1600" b="1">
                <a:solidFill>
                  <a:srgbClr val="1C1B1A"/>
                </a:solidFill>
                <a:latin typeface="Calibri"/>
              </a:rPr>
              <a:t>Understand
what is happening</a:t>
            </a:r>
          </a:p>
        </p:txBody>
      </p:sp>
      <p:sp>
        <p:nvSpPr>
          <p:cNvPr id="14" name="Rectangle 13"/>
          <p:cNvSpPr/>
          <p:nvPr/>
        </p:nvSpPr>
        <p:spPr>
          <a:xfrm>
            <a:off x="4334256" y="2286000"/>
            <a:ext cx="1783080" cy="2286000"/>
          </a:xfrm>
          <a:prstGeom prst="rect">
            <a:avLst/>
          </a:prstGeom>
          <a:solidFill>
            <a:srgbClr val="F6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43984" y="2423160"/>
            <a:ext cx="1554480" cy="365760"/>
          </a:xfrm>
          <a:prstGeom prst="rect">
            <a:avLst/>
          </a:prstGeom>
          <a:noFill/>
        </p:spPr>
        <p:txBody>
          <a:bodyPr wrap="square">
            <a:spAutoFit/>
          </a:bodyPr>
          <a:lstStyle/>
          <a:p>
            <a:pPr algn="l"/>
            <a:r>
              <a:rPr sz="1400" b="1">
                <a:solidFill>
                  <a:srgbClr val="E10600"/>
                </a:solidFill>
                <a:latin typeface="Calibri"/>
              </a:rPr>
              <a:t>03</a:t>
            </a:r>
          </a:p>
        </p:txBody>
      </p:sp>
      <p:sp>
        <p:nvSpPr>
          <p:cNvPr id="16" name="TextBox 15"/>
          <p:cNvSpPr txBox="1"/>
          <p:nvPr/>
        </p:nvSpPr>
        <p:spPr>
          <a:xfrm>
            <a:off x="4443984" y="2880360"/>
            <a:ext cx="1554480" cy="1371600"/>
          </a:xfrm>
          <a:prstGeom prst="rect">
            <a:avLst/>
          </a:prstGeom>
          <a:noFill/>
        </p:spPr>
        <p:txBody>
          <a:bodyPr wrap="square">
            <a:spAutoFit/>
          </a:bodyPr>
          <a:lstStyle/>
          <a:p>
            <a:pPr algn="l"/>
            <a:r>
              <a:rPr sz="1600" b="1">
                <a:solidFill>
                  <a:srgbClr val="1C1B1A"/>
                </a:solidFill>
                <a:latin typeface="Calibri"/>
              </a:rPr>
              <a:t>Identify the
problem</a:t>
            </a:r>
          </a:p>
        </p:txBody>
      </p:sp>
      <p:sp>
        <p:nvSpPr>
          <p:cNvPr id="17" name="Rectangle 16"/>
          <p:cNvSpPr/>
          <p:nvPr/>
        </p:nvSpPr>
        <p:spPr>
          <a:xfrm>
            <a:off x="6272784" y="2286000"/>
            <a:ext cx="1783080" cy="2286000"/>
          </a:xfrm>
          <a:prstGeom prst="rect">
            <a:avLst/>
          </a:prstGeom>
          <a:solidFill>
            <a:srgbClr val="F6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82512" y="2423160"/>
            <a:ext cx="1554480" cy="365760"/>
          </a:xfrm>
          <a:prstGeom prst="rect">
            <a:avLst/>
          </a:prstGeom>
          <a:noFill/>
        </p:spPr>
        <p:txBody>
          <a:bodyPr wrap="square">
            <a:spAutoFit/>
          </a:bodyPr>
          <a:lstStyle/>
          <a:p>
            <a:pPr algn="l"/>
            <a:r>
              <a:rPr sz="1400" b="1">
                <a:solidFill>
                  <a:srgbClr val="E10600"/>
                </a:solidFill>
                <a:latin typeface="Calibri"/>
              </a:rPr>
              <a:t>04</a:t>
            </a:r>
          </a:p>
        </p:txBody>
      </p:sp>
      <p:sp>
        <p:nvSpPr>
          <p:cNvPr id="19" name="TextBox 18"/>
          <p:cNvSpPr txBox="1"/>
          <p:nvPr/>
        </p:nvSpPr>
        <p:spPr>
          <a:xfrm>
            <a:off x="6382512" y="2880360"/>
            <a:ext cx="1554480" cy="1371600"/>
          </a:xfrm>
          <a:prstGeom prst="rect">
            <a:avLst/>
          </a:prstGeom>
          <a:noFill/>
        </p:spPr>
        <p:txBody>
          <a:bodyPr wrap="square">
            <a:spAutoFit/>
          </a:bodyPr>
          <a:lstStyle/>
          <a:p>
            <a:pPr algn="l"/>
            <a:r>
              <a:rPr sz="1600" b="1">
                <a:solidFill>
                  <a:srgbClr val="1C1B1A"/>
                </a:solidFill>
                <a:latin typeface="Calibri"/>
              </a:rPr>
              <a:t>Choose
what to do</a:t>
            </a:r>
          </a:p>
        </p:txBody>
      </p:sp>
      <p:sp>
        <p:nvSpPr>
          <p:cNvPr id="20" name="Rectangle 19"/>
          <p:cNvSpPr/>
          <p:nvPr/>
        </p:nvSpPr>
        <p:spPr>
          <a:xfrm>
            <a:off x="8211312" y="2286000"/>
            <a:ext cx="1783080" cy="2286000"/>
          </a:xfrm>
          <a:prstGeom prst="rect">
            <a:avLst/>
          </a:prstGeom>
          <a:solidFill>
            <a:srgbClr val="F6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1040" y="2423160"/>
            <a:ext cx="1554480" cy="365760"/>
          </a:xfrm>
          <a:prstGeom prst="rect">
            <a:avLst/>
          </a:prstGeom>
          <a:noFill/>
        </p:spPr>
        <p:txBody>
          <a:bodyPr wrap="square">
            <a:spAutoFit/>
          </a:bodyPr>
          <a:lstStyle/>
          <a:p>
            <a:pPr algn="l"/>
            <a:r>
              <a:rPr sz="1400" b="1">
                <a:solidFill>
                  <a:srgbClr val="E10600"/>
                </a:solidFill>
                <a:latin typeface="Calibri"/>
              </a:rPr>
              <a:t>05</a:t>
            </a:r>
          </a:p>
        </p:txBody>
      </p:sp>
      <p:sp>
        <p:nvSpPr>
          <p:cNvPr id="22" name="TextBox 21"/>
          <p:cNvSpPr txBox="1"/>
          <p:nvPr/>
        </p:nvSpPr>
        <p:spPr>
          <a:xfrm>
            <a:off x="8321040" y="2880360"/>
            <a:ext cx="1554480" cy="1371600"/>
          </a:xfrm>
          <a:prstGeom prst="rect">
            <a:avLst/>
          </a:prstGeom>
          <a:noFill/>
        </p:spPr>
        <p:txBody>
          <a:bodyPr wrap="square">
            <a:spAutoFit/>
          </a:bodyPr>
          <a:lstStyle/>
          <a:p>
            <a:pPr algn="l"/>
            <a:r>
              <a:rPr sz="1600" b="1">
                <a:solidFill>
                  <a:srgbClr val="1C1B1A"/>
                </a:solidFill>
                <a:latin typeface="Calibri"/>
              </a:rPr>
              <a:t>Track the
recovery</a:t>
            </a:r>
          </a:p>
        </p:txBody>
      </p:sp>
      <p:sp>
        <p:nvSpPr>
          <p:cNvPr id="23" name="Rectangle 22"/>
          <p:cNvSpPr/>
          <p:nvPr/>
        </p:nvSpPr>
        <p:spPr>
          <a:xfrm>
            <a:off x="10149840" y="2286000"/>
            <a:ext cx="1783080" cy="2286000"/>
          </a:xfrm>
          <a:prstGeom prst="rect">
            <a:avLst/>
          </a:prstGeom>
          <a:solidFill>
            <a:srgbClr val="F6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259568" y="2423160"/>
            <a:ext cx="1554480" cy="365760"/>
          </a:xfrm>
          <a:prstGeom prst="rect">
            <a:avLst/>
          </a:prstGeom>
          <a:noFill/>
        </p:spPr>
        <p:txBody>
          <a:bodyPr wrap="square">
            <a:spAutoFit/>
          </a:bodyPr>
          <a:lstStyle/>
          <a:p>
            <a:pPr algn="l"/>
            <a:r>
              <a:rPr sz="1400" b="1">
                <a:solidFill>
                  <a:srgbClr val="E10600"/>
                </a:solidFill>
                <a:latin typeface="Calibri"/>
              </a:rPr>
              <a:t>06</a:t>
            </a:r>
          </a:p>
        </p:txBody>
      </p:sp>
      <p:sp>
        <p:nvSpPr>
          <p:cNvPr id="25" name="TextBox 24"/>
          <p:cNvSpPr txBox="1"/>
          <p:nvPr/>
        </p:nvSpPr>
        <p:spPr>
          <a:xfrm>
            <a:off x="10259568" y="2880360"/>
            <a:ext cx="1554480" cy="1371600"/>
          </a:xfrm>
          <a:prstGeom prst="rect">
            <a:avLst/>
          </a:prstGeom>
          <a:noFill/>
        </p:spPr>
        <p:txBody>
          <a:bodyPr wrap="square">
            <a:spAutoFit/>
          </a:bodyPr>
          <a:lstStyle/>
          <a:p>
            <a:pPr algn="l"/>
            <a:r>
              <a:rPr sz="1600" b="1">
                <a:solidFill>
                  <a:srgbClr val="1C1B1A"/>
                </a:solidFill>
                <a:latin typeface="Calibri"/>
              </a:rPr>
              <a:t>Complete refund
or replacement</a:t>
            </a:r>
          </a:p>
        </p:txBody>
      </p:sp>
      <p:sp>
        <p:nvSpPr>
          <p:cNvPr id="26" name="TextBox 25"/>
          <p:cNvSpPr txBox="1"/>
          <p:nvPr/>
        </p:nvSpPr>
        <p:spPr>
          <a:xfrm>
            <a:off x="502920" y="4937760"/>
            <a:ext cx="10972800" cy="1097280"/>
          </a:xfrm>
          <a:prstGeom prst="rect">
            <a:avLst/>
          </a:prstGeom>
          <a:noFill/>
        </p:spPr>
        <p:txBody>
          <a:bodyPr wrap="square">
            <a:spAutoFit/>
          </a:bodyPr>
          <a:lstStyle/>
          <a:p>
            <a:pPr algn="l"/>
            <a:r>
              <a:rPr sz="2000" b="0">
                <a:solidFill>
                  <a:srgbClr val="5E5A55"/>
                </a:solidFill>
                <a:latin typeface="Calibri"/>
              </a:rPr>
              <a:t>The customer stays in Kmart. The case is a SAP service request on the sales order.
Demo order KM185002 — the damaged storage box.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10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10528"/>
            <a:ext cx="7315200" cy="256032"/>
          </a:xfrm>
          <a:prstGeom prst="rect">
            <a:avLst/>
          </a:prstGeom>
          <a:noFill/>
        </p:spPr>
        <p:txBody>
          <a:bodyPr wrap="square">
            <a:spAutoFit/>
          </a:bodyPr>
          <a:lstStyle/>
          <a:p>
            <a:pPr algn="l"/>
            <a:r>
              <a:rPr sz="1200" b="0">
                <a:solidFill>
                  <a:srgbClr val="5E5A55"/>
                </a:solidFill>
                <a:latin typeface="Calibri"/>
              </a:rPr>
              <a:t>Kmart Delivery Assist  ·  Managing Director</a:t>
            </a:r>
          </a:p>
        </p:txBody>
      </p:sp>
      <p:sp>
        <p:nvSpPr>
          <p:cNvPr id="5" name="TextBox 4"/>
          <p:cNvSpPr txBox="1"/>
          <p:nvPr/>
        </p:nvSpPr>
        <p:spPr>
          <a:xfrm>
            <a:off x="9509760" y="6510528"/>
            <a:ext cx="2194560" cy="256032"/>
          </a:xfrm>
          <a:prstGeom prst="rect">
            <a:avLst/>
          </a:prstGeom>
          <a:noFill/>
        </p:spPr>
        <p:txBody>
          <a:bodyPr wrap="square">
            <a:spAutoFit/>
          </a:bodyPr>
          <a:lstStyle/>
          <a:p>
            <a:pPr algn="r"/>
            <a:r>
              <a:rPr sz="1200" b="0">
                <a:solidFill>
                  <a:srgbClr val="5E5A55"/>
                </a:solidFill>
                <a:latin typeface="Calibri"/>
              </a:rPr>
              <a:t>5  /  9</a:t>
            </a:r>
          </a:p>
        </p:txBody>
      </p:sp>
      <p:sp>
        <p:nvSpPr>
          <p:cNvPr id="6" name="TextBox 5"/>
          <p:cNvSpPr txBox="1"/>
          <p:nvPr/>
        </p:nvSpPr>
        <p:spPr>
          <a:xfrm>
            <a:off x="502920" y="320040"/>
            <a:ext cx="5486400" cy="274320"/>
          </a:xfrm>
          <a:prstGeom prst="rect">
            <a:avLst/>
          </a:prstGeom>
          <a:noFill/>
        </p:spPr>
        <p:txBody>
          <a:bodyPr wrap="square">
            <a:spAutoFit/>
          </a:bodyPr>
          <a:lstStyle/>
          <a:p>
            <a:pPr algn="l"/>
            <a:r>
              <a:rPr sz="1400" b="1">
                <a:solidFill>
                  <a:srgbClr val="E10600"/>
                </a:solidFill>
                <a:latin typeface="Calibri"/>
              </a:rPr>
              <a:t>WHY THIS SOLUTION</a:t>
            </a:r>
          </a:p>
        </p:txBody>
      </p:sp>
      <p:sp>
        <p:nvSpPr>
          <p:cNvPr id="7" name="TextBox 6"/>
          <p:cNvSpPr txBox="1"/>
          <p:nvPr/>
        </p:nvSpPr>
        <p:spPr>
          <a:xfrm>
            <a:off x="502920" y="640080"/>
            <a:ext cx="10972800" cy="640080"/>
          </a:xfrm>
          <a:prstGeom prst="rect">
            <a:avLst/>
          </a:prstGeom>
          <a:noFill/>
        </p:spPr>
        <p:txBody>
          <a:bodyPr wrap="square">
            <a:spAutoFit/>
          </a:bodyPr>
          <a:lstStyle/>
          <a:p>
            <a:pPr algn="l"/>
            <a:r>
              <a:rPr sz="2800" b="1">
                <a:solidFill>
                  <a:srgbClr val="1C1B1A"/>
                </a:solidFill>
                <a:latin typeface="Calibri"/>
              </a:rPr>
              <a:t>High impact. Feasible on the APIs we have.</a:t>
            </a:r>
          </a:p>
        </p:txBody>
      </p:sp>
      <p:sp>
        <p:nvSpPr>
          <p:cNvPr id="8" name="Rectangle 7"/>
          <p:cNvSpPr/>
          <p:nvPr/>
        </p:nvSpPr>
        <p:spPr>
          <a:xfrm>
            <a:off x="502920" y="1645920"/>
            <a:ext cx="5440680" cy="2011680"/>
          </a:xfrm>
          <a:prstGeom prst="rect">
            <a:avLst/>
          </a:prstGeom>
          <a:solidFill>
            <a:srgbClr val="F6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828800"/>
            <a:ext cx="4846320" cy="320040"/>
          </a:xfrm>
          <a:prstGeom prst="rect">
            <a:avLst/>
          </a:prstGeom>
          <a:noFill/>
        </p:spPr>
        <p:txBody>
          <a:bodyPr wrap="square">
            <a:spAutoFit/>
          </a:bodyPr>
          <a:lstStyle/>
          <a:p>
            <a:pPr algn="l"/>
            <a:r>
              <a:rPr sz="1300" b="1">
                <a:solidFill>
                  <a:srgbClr val="E10600"/>
                </a:solidFill>
                <a:latin typeface="Calibri"/>
              </a:rPr>
              <a:t>DO LATER</a:t>
            </a:r>
          </a:p>
        </p:txBody>
      </p:sp>
      <p:sp>
        <p:nvSpPr>
          <p:cNvPr id="10" name="TextBox 9"/>
          <p:cNvSpPr txBox="1"/>
          <p:nvPr/>
        </p:nvSpPr>
        <p:spPr>
          <a:xfrm>
            <a:off x="777240" y="2194560"/>
            <a:ext cx="4846320" cy="1280160"/>
          </a:xfrm>
          <a:prstGeom prst="rect">
            <a:avLst/>
          </a:prstGeom>
          <a:noFill/>
        </p:spPr>
        <p:txBody>
          <a:bodyPr wrap="square">
            <a:spAutoFit/>
          </a:bodyPr>
          <a:lstStyle/>
          <a:p>
            <a:pPr algn="l"/>
            <a:r>
              <a:rPr sz="2000" b="1">
                <a:solidFill>
                  <a:srgbClr val="1C1B1A"/>
                </a:solidFill>
                <a:latin typeface="Calibri"/>
              </a:rPr>
              <a:t>P1 routing automation
High impact, high effort.
After shadow evidence.</a:t>
            </a:r>
          </a:p>
        </p:txBody>
      </p:sp>
      <p:sp>
        <p:nvSpPr>
          <p:cNvPr id="11" name="Rectangle 10"/>
          <p:cNvSpPr/>
          <p:nvPr/>
        </p:nvSpPr>
        <p:spPr>
          <a:xfrm>
            <a:off x="6172200" y="1645920"/>
            <a:ext cx="5440680" cy="2011680"/>
          </a:xfrm>
          <a:prstGeom prst="rect">
            <a:avLst/>
          </a:prstGeom>
          <a:solidFill>
            <a:srgbClr val="E10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828800"/>
            <a:ext cx="4846320" cy="320040"/>
          </a:xfrm>
          <a:prstGeom prst="rect">
            <a:avLst/>
          </a:prstGeom>
          <a:noFill/>
        </p:spPr>
        <p:txBody>
          <a:bodyPr wrap="square">
            <a:spAutoFit/>
          </a:bodyPr>
          <a:lstStyle/>
          <a:p>
            <a:pPr algn="l"/>
            <a:r>
              <a:rPr sz="1300" b="1">
                <a:solidFill>
                  <a:srgbClr val="FFFFFF"/>
                </a:solidFill>
                <a:latin typeface="Calibri"/>
              </a:rPr>
              <a:t>BUILD NOW</a:t>
            </a:r>
          </a:p>
        </p:txBody>
      </p:sp>
      <p:sp>
        <p:nvSpPr>
          <p:cNvPr id="13" name="TextBox 12"/>
          <p:cNvSpPr txBox="1"/>
          <p:nvPr/>
        </p:nvSpPr>
        <p:spPr>
          <a:xfrm>
            <a:off x="6446520" y="2194560"/>
            <a:ext cx="4846320" cy="1280160"/>
          </a:xfrm>
          <a:prstGeom prst="rect">
            <a:avLst/>
          </a:prstGeom>
          <a:noFill/>
        </p:spPr>
        <p:txBody>
          <a:bodyPr wrap="square">
            <a:spAutoFit/>
          </a:bodyPr>
          <a:lstStyle/>
          <a:p>
            <a:pPr algn="l"/>
            <a:r>
              <a:rPr sz="2000" b="1">
                <a:solidFill>
                  <a:srgbClr val="FFFFFF"/>
                </a:solidFill>
                <a:latin typeface="Calibri"/>
              </a:rPr>
              <a:t>Delivery Assist
High impact, lower effort.
The customer feels it.</a:t>
            </a:r>
          </a:p>
        </p:txBody>
      </p:sp>
      <p:sp>
        <p:nvSpPr>
          <p:cNvPr id="14" name="Rectangle 13"/>
          <p:cNvSpPr/>
          <p:nvPr/>
        </p:nvSpPr>
        <p:spPr>
          <a:xfrm>
            <a:off x="502920" y="3794760"/>
            <a:ext cx="544068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3977640"/>
            <a:ext cx="4846320" cy="320040"/>
          </a:xfrm>
          <a:prstGeom prst="rect">
            <a:avLst/>
          </a:prstGeom>
          <a:noFill/>
        </p:spPr>
        <p:txBody>
          <a:bodyPr wrap="square">
            <a:spAutoFit/>
          </a:bodyPr>
          <a:lstStyle/>
          <a:p>
            <a:pPr algn="l"/>
            <a:r>
              <a:rPr sz="1300" b="1">
                <a:solidFill>
                  <a:srgbClr val="E10600"/>
                </a:solidFill>
                <a:latin typeface="Calibri"/>
              </a:rPr>
              <a:t>LEAVE</a:t>
            </a:r>
          </a:p>
        </p:txBody>
      </p:sp>
      <p:sp>
        <p:nvSpPr>
          <p:cNvPr id="16" name="TextBox 15"/>
          <p:cNvSpPr txBox="1"/>
          <p:nvPr/>
        </p:nvSpPr>
        <p:spPr>
          <a:xfrm>
            <a:off x="777240" y="4343400"/>
            <a:ext cx="4846320" cy="1280160"/>
          </a:xfrm>
          <a:prstGeom prst="rect">
            <a:avLst/>
          </a:prstGeom>
          <a:noFill/>
        </p:spPr>
        <p:txBody>
          <a:bodyPr wrap="square">
            <a:spAutoFit/>
          </a:bodyPr>
          <a:lstStyle/>
          <a:p>
            <a:pPr algn="l"/>
            <a:r>
              <a:rPr sz="2000" b="1">
                <a:solidFill>
                  <a:srgbClr val="1C1B1A"/>
                </a:solidFill>
                <a:latin typeface="Calibri"/>
              </a:rPr>
              <a:t>Rebuild order management
High effort, low extra impact.</a:t>
            </a:r>
          </a:p>
        </p:txBody>
      </p:sp>
      <p:sp>
        <p:nvSpPr>
          <p:cNvPr id="17" name="Rectangle 16"/>
          <p:cNvSpPr/>
          <p:nvPr/>
        </p:nvSpPr>
        <p:spPr>
          <a:xfrm>
            <a:off x="6172200" y="3794760"/>
            <a:ext cx="5440680" cy="2011680"/>
          </a:xfrm>
          <a:prstGeom prst="rect">
            <a:avLst/>
          </a:prstGeom>
          <a:solidFill>
            <a:srgbClr val="F6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3977640"/>
            <a:ext cx="4846320" cy="320040"/>
          </a:xfrm>
          <a:prstGeom prst="rect">
            <a:avLst/>
          </a:prstGeom>
          <a:noFill/>
        </p:spPr>
        <p:txBody>
          <a:bodyPr wrap="square">
            <a:spAutoFit/>
          </a:bodyPr>
          <a:lstStyle/>
          <a:p>
            <a:pPr algn="l"/>
            <a:r>
              <a:rPr sz="1300" b="1">
                <a:solidFill>
                  <a:srgbClr val="E10600"/>
                </a:solidFill>
                <a:latin typeface="Calibri"/>
              </a:rPr>
              <a:t>NOT ENOUGH</a:t>
            </a:r>
          </a:p>
        </p:txBody>
      </p:sp>
      <p:sp>
        <p:nvSpPr>
          <p:cNvPr id="19" name="TextBox 18"/>
          <p:cNvSpPr txBox="1"/>
          <p:nvPr/>
        </p:nvSpPr>
        <p:spPr>
          <a:xfrm>
            <a:off x="6446520" y="4343400"/>
            <a:ext cx="4846320" cy="1280160"/>
          </a:xfrm>
          <a:prstGeom prst="rect">
            <a:avLst/>
          </a:prstGeom>
          <a:noFill/>
        </p:spPr>
        <p:txBody>
          <a:bodyPr wrap="square">
            <a:spAutoFit/>
          </a:bodyPr>
          <a:lstStyle/>
          <a:p>
            <a:pPr algn="l"/>
            <a:r>
              <a:rPr sz="2000" b="1">
                <a:solidFill>
                  <a:srgbClr val="1C1B1A"/>
                </a:solidFill>
                <a:latin typeface="Calibri"/>
              </a:rPr>
              <a:t>A status page with no recovery
Low effort, low impact.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10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10528"/>
            <a:ext cx="7315200" cy="256032"/>
          </a:xfrm>
          <a:prstGeom prst="rect">
            <a:avLst/>
          </a:prstGeom>
          <a:noFill/>
        </p:spPr>
        <p:txBody>
          <a:bodyPr wrap="square">
            <a:spAutoFit/>
          </a:bodyPr>
          <a:lstStyle/>
          <a:p>
            <a:pPr algn="l"/>
            <a:r>
              <a:rPr sz="1200" b="0">
                <a:solidFill>
                  <a:srgbClr val="5E5A55"/>
                </a:solidFill>
                <a:latin typeface="Calibri"/>
              </a:rPr>
              <a:t>Kmart Delivery Assist  ·  Managing Director</a:t>
            </a:r>
          </a:p>
        </p:txBody>
      </p:sp>
      <p:sp>
        <p:nvSpPr>
          <p:cNvPr id="5" name="TextBox 4"/>
          <p:cNvSpPr txBox="1"/>
          <p:nvPr/>
        </p:nvSpPr>
        <p:spPr>
          <a:xfrm>
            <a:off x="9509760" y="6510528"/>
            <a:ext cx="2194560" cy="256032"/>
          </a:xfrm>
          <a:prstGeom prst="rect">
            <a:avLst/>
          </a:prstGeom>
          <a:noFill/>
        </p:spPr>
        <p:txBody>
          <a:bodyPr wrap="square">
            <a:spAutoFit/>
          </a:bodyPr>
          <a:lstStyle/>
          <a:p>
            <a:pPr algn="r"/>
            <a:r>
              <a:rPr sz="1200" b="0">
                <a:solidFill>
                  <a:srgbClr val="5E5A55"/>
                </a:solidFill>
                <a:latin typeface="Calibri"/>
              </a:rPr>
              <a:t>6  /  9</a:t>
            </a:r>
          </a:p>
        </p:txBody>
      </p:sp>
      <p:sp>
        <p:nvSpPr>
          <p:cNvPr id="6" name="TextBox 5"/>
          <p:cNvSpPr txBox="1"/>
          <p:nvPr/>
        </p:nvSpPr>
        <p:spPr>
          <a:xfrm>
            <a:off x="502920" y="320040"/>
            <a:ext cx="7315200" cy="274320"/>
          </a:xfrm>
          <a:prstGeom prst="rect">
            <a:avLst/>
          </a:prstGeom>
          <a:noFill/>
        </p:spPr>
        <p:txBody>
          <a:bodyPr wrap="square">
            <a:spAutoFit/>
          </a:bodyPr>
          <a:lstStyle/>
          <a:p>
            <a:pPr algn="l"/>
            <a:r>
              <a:rPr sz="1400" b="1">
                <a:solidFill>
                  <a:srgbClr val="E10600"/>
                </a:solidFill>
                <a:latin typeface="Calibri"/>
              </a:rPr>
              <a:t>DESIGN  ·  WHAT CHANGED</a:t>
            </a:r>
          </a:p>
        </p:txBody>
      </p:sp>
      <p:sp>
        <p:nvSpPr>
          <p:cNvPr id="7" name="TextBox 6"/>
          <p:cNvSpPr txBox="1"/>
          <p:nvPr/>
        </p:nvSpPr>
        <p:spPr>
          <a:xfrm>
            <a:off x="502920" y="640080"/>
            <a:ext cx="10972800" cy="548640"/>
          </a:xfrm>
          <a:prstGeom prst="rect">
            <a:avLst/>
          </a:prstGeom>
          <a:noFill/>
        </p:spPr>
        <p:txBody>
          <a:bodyPr wrap="square">
            <a:spAutoFit/>
          </a:bodyPr>
          <a:lstStyle/>
          <a:p>
            <a:pPr algn="l"/>
            <a:r>
              <a:rPr sz="2600" b="1">
                <a:solidFill>
                  <a:srgbClr val="1C1B1A"/>
                </a:solidFill>
                <a:latin typeface="Calibri"/>
              </a:rPr>
              <a:t>Same goal. A customer surface the APIs can carry.</a:t>
            </a:r>
          </a:p>
        </p:txBody>
      </p:sp>
      <p:sp>
        <p:nvSpPr>
          <p:cNvPr id="8" name="TextBox 7"/>
          <p:cNvSpPr txBox="1"/>
          <p:nvPr/>
        </p:nvSpPr>
        <p:spPr>
          <a:xfrm>
            <a:off x="502920" y="1417320"/>
            <a:ext cx="2103120" cy="457200"/>
          </a:xfrm>
          <a:prstGeom prst="rect">
            <a:avLst/>
          </a:prstGeom>
          <a:noFill/>
        </p:spPr>
        <p:txBody>
          <a:bodyPr wrap="square">
            <a:spAutoFit/>
          </a:bodyPr>
          <a:lstStyle/>
          <a:p>
            <a:pPr algn="l"/>
            <a:r>
              <a:rPr sz="1800" b="1">
                <a:solidFill>
                  <a:srgbClr val="E10600"/>
                </a:solidFill>
                <a:latin typeface="Calibri"/>
              </a:rPr>
              <a:t>Empathise</a:t>
            </a:r>
          </a:p>
        </p:txBody>
      </p:sp>
      <p:sp>
        <p:nvSpPr>
          <p:cNvPr id="9" name="TextBox 8"/>
          <p:cNvSpPr txBox="1"/>
          <p:nvPr/>
        </p:nvSpPr>
        <p:spPr>
          <a:xfrm>
            <a:off x="2651760" y="1417320"/>
            <a:ext cx="3931920" cy="457200"/>
          </a:xfrm>
          <a:prstGeom prst="rect">
            <a:avLst/>
          </a:prstGeom>
          <a:noFill/>
        </p:spPr>
        <p:txBody>
          <a:bodyPr wrap="square">
            <a:spAutoFit/>
          </a:bodyPr>
          <a:lstStyle/>
          <a:p>
            <a:pPr algn="l"/>
            <a:r>
              <a:rPr sz="1800" b="0">
                <a:solidFill>
                  <a:srgbClr val="1C1B1A"/>
                </a:solidFill>
                <a:latin typeface="Calibri"/>
              </a:rPr>
              <a:t>A failed delivery is a dead end.</a:t>
            </a:r>
          </a:p>
        </p:txBody>
      </p:sp>
      <p:sp>
        <p:nvSpPr>
          <p:cNvPr id="10" name="TextBox 9"/>
          <p:cNvSpPr txBox="1"/>
          <p:nvPr/>
        </p:nvSpPr>
        <p:spPr>
          <a:xfrm>
            <a:off x="502920" y="2075688"/>
            <a:ext cx="2103120" cy="457200"/>
          </a:xfrm>
          <a:prstGeom prst="rect">
            <a:avLst/>
          </a:prstGeom>
          <a:noFill/>
        </p:spPr>
        <p:txBody>
          <a:bodyPr wrap="square">
            <a:spAutoFit/>
          </a:bodyPr>
          <a:lstStyle/>
          <a:p>
            <a:pPr algn="l"/>
            <a:r>
              <a:rPr sz="1800" b="1">
                <a:solidFill>
                  <a:srgbClr val="E10600"/>
                </a:solidFill>
                <a:latin typeface="Calibri"/>
              </a:rPr>
              <a:t>Define</a:t>
            </a:r>
          </a:p>
        </p:txBody>
      </p:sp>
      <p:sp>
        <p:nvSpPr>
          <p:cNvPr id="11" name="TextBox 10"/>
          <p:cNvSpPr txBox="1"/>
          <p:nvPr/>
        </p:nvSpPr>
        <p:spPr>
          <a:xfrm>
            <a:off x="2651760" y="2075688"/>
            <a:ext cx="3931920" cy="457200"/>
          </a:xfrm>
          <a:prstGeom prst="rect">
            <a:avLst/>
          </a:prstGeom>
          <a:noFill/>
        </p:spPr>
        <p:txBody>
          <a:bodyPr wrap="square">
            <a:spAutoFit/>
          </a:bodyPr>
          <a:lstStyle/>
          <a:p>
            <a:pPr algn="l"/>
            <a:r>
              <a:rPr sz="1800" b="0">
                <a:solidFill>
                  <a:srgbClr val="1C1B1A"/>
                </a:solidFill>
                <a:latin typeface="Calibri"/>
              </a:rPr>
              <a:t>One job: see it, choose, finish.</a:t>
            </a:r>
          </a:p>
        </p:txBody>
      </p:sp>
      <p:sp>
        <p:nvSpPr>
          <p:cNvPr id="12" name="TextBox 11"/>
          <p:cNvSpPr txBox="1"/>
          <p:nvPr/>
        </p:nvSpPr>
        <p:spPr>
          <a:xfrm>
            <a:off x="502920" y="2734056"/>
            <a:ext cx="2103120" cy="457200"/>
          </a:xfrm>
          <a:prstGeom prst="rect">
            <a:avLst/>
          </a:prstGeom>
          <a:noFill/>
        </p:spPr>
        <p:txBody>
          <a:bodyPr wrap="square">
            <a:spAutoFit/>
          </a:bodyPr>
          <a:lstStyle/>
          <a:p>
            <a:pPr algn="l"/>
            <a:r>
              <a:rPr sz="1800" b="1">
                <a:solidFill>
                  <a:srgbClr val="E10600"/>
                </a:solidFill>
                <a:latin typeface="Calibri"/>
              </a:rPr>
              <a:t>Ideate</a:t>
            </a:r>
          </a:p>
        </p:txBody>
      </p:sp>
      <p:sp>
        <p:nvSpPr>
          <p:cNvPr id="13" name="TextBox 12"/>
          <p:cNvSpPr txBox="1"/>
          <p:nvPr/>
        </p:nvSpPr>
        <p:spPr>
          <a:xfrm>
            <a:off x="2651760" y="2734056"/>
            <a:ext cx="3931920" cy="457200"/>
          </a:xfrm>
          <a:prstGeom prst="rect">
            <a:avLst/>
          </a:prstGeom>
          <a:noFill/>
        </p:spPr>
        <p:txBody>
          <a:bodyPr wrap="square">
            <a:spAutoFit/>
          </a:bodyPr>
          <a:lstStyle/>
          <a:p>
            <a:pPr algn="l"/>
            <a:r>
              <a:rPr sz="1800" b="0">
                <a:solidFill>
                  <a:srgbClr val="1C1B1A"/>
                </a:solidFill>
                <a:latin typeface="Calibri"/>
              </a:rPr>
              <a:t>Picked the recovery journey.</a:t>
            </a:r>
          </a:p>
        </p:txBody>
      </p:sp>
      <p:sp>
        <p:nvSpPr>
          <p:cNvPr id="14" name="TextBox 13"/>
          <p:cNvSpPr txBox="1"/>
          <p:nvPr/>
        </p:nvSpPr>
        <p:spPr>
          <a:xfrm>
            <a:off x="502920" y="3392424"/>
            <a:ext cx="2103120" cy="457200"/>
          </a:xfrm>
          <a:prstGeom prst="rect">
            <a:avLst/>
          </a:prstGeom>
          <a:noFill/>
        </p:spPr>
        <p:txBody>
          <a:bodyPr wrap="square">
            <a:spAutoFit/>
          </a:bodyPr>
          <a:lstStyle/>
          <a:p>
            <a:pPr algn="l"/>
            <a:r>
              <a:rPr sz="1800" b="1">
                <a:solidFill>
                  <a:srgbClr val="E10600"/>
                </a:solidFill>
                <a:latin typeface="Calibri"/>
              </a:rPr>
              <a:t>Prototype</a:t>
            </a:r>
          </a:p>
        </p:txBody>
      </p:sp>
      <p:sp>
        <p:nvSpPr>
          <p:cNvPr id="15" name="TextBox 14"/>
          <p:cNvSpPr txBox="1"/>
          <p:nvPr/>
        </p:nvSpPr>
        <p:spPr>
          <a:xfrm>
            <a:off x="2651760" y="3392424"/>
            <a:ext cx="3931920" cy="457200"/>
          </a:xfrm>
          <a:prstGeom prst="rect">
            <a:avLst/>
          </a:prstGeom>
          <a:noFill/>
        </p:spPr>
        <p:txBody>
          <a:bodyPr wrap="square">
            <a:spAutoFit/>
          </a:bodyPr>
          <a:lstStyle/>
          <a:p>
            <a:pPr algn="l"/>
            <a:r>
              <a:rPr sz="1800" b="0">
                <a:solidFill>
                  <a:srgbClr val="1C1B1A"/>
                </a:solidFill>
                <a:latin typeface="Calibri"/>
              </a:rPr>
              <a:t>Six steps, one case.</a:t>
            </a:r>
          </a:p>
        </p:txBody>
      </p:sp>
      <p:sp>
        <p:nvSpPr>
          <p:cNvPr id="16" name="TextBox 15"/>
          <p:cNvSpPr txBox="1"/>
          <p:nvPr/>
        </p:nvSpPr>
        <p:spPr>
          <a:xfrm>
            <a:off x="502920" y="4050791"/>
            <a:ext cx="2103120" cy="457200"/>
          </a:xfrm>
          <a:prstGeom prst="rect">
            <a:avLst/>
          </a:prstGeom>
          <a:noFill/>
        </p:spPr>
        <p:txBody>
          <a:bodyPr wrap="square">
            <a:spAutoFit/>
          </a:bodyPr>
          <a:lstStyle/>
          <a:p>
            <a:pPr algn="l"/>
            <a:r>
              <a:rPr sz="1800" b="1">
                <a:solidFill>
                  <a:srgbClr val="E10600"/>
                </a:solidFill>
                <a:latin typeface="Calibri"/>
              </a:rPr>
              <a:t>Test</a:t>
            </a:r>
          </a:p>
        </p:txBody>
      </p:sp>
      <p:sp>
        <p:nvSpPr>
          <p:cNvPr id="17" name="TextBox 16"/>
          <p:cNvSpPr txBox="1"/>
          <p:nvPr/>
        </p:nvSpPr>
        <p:spPr>
          <a:xfrm>
            <a:off x="2651760" y="4050791"/>
            <a:ext cx="3931920" cy="457200"/>
          </a:xfrm>
          <a:prstGeom prst="rect">
            <a:avLst/>
          </a:prstGeom>
          <a:noFill/>
        </p:spPr>
        <p:txBody>
          <a:bodyPr wrap="square">
            <a:spAutoFit/>
          </a:bodyPr>
          <a:lstStyle/>
          <a:p>
            <a:pPr algn="l"/>
            <a:r>
              <a:rPr sz="1800" b="0">
                <a:solidFill>
                  <a:srgbClr val="1C1B1A"/>
                </a:solidFill>
                <a:latin typeface="Calibri"/>
              </a:rPr>
              <a:t>Refund asks twice. A healthy order stays healthy.</a:t>
            </a:r>
          </a:p>
        </p:txBody>
      </p:sp>
      <p:sp>
        <p:nvSpPr>
          <p:cNvPr id="18" name="Rectangle 17"/>
          <p:cNvSpPr/>
          <p:nvPr/>
        </p:nvSpPr>
        <p:spPr>
          <a:xfrm>
            <a:off x="6858000" y="1463040"/>
            <a:ext cx="4846320" cy="4297680"/>
          </a:xfrm>
          <a:prstGeom prst="rect">
            <a:avLst/>
          </a:prstGeom>
          <a:solidFill>
            <a:srgbClr val="F6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86600" y="1645920"/>
            <a:ext cx="4480560" cy="365760"/>
          </a:xfrm>
          <a:prstGeom prst="rect">
            <a:avLst/>
          </a:prstGeom>
          <a:noFill/>
        </p:spPr>
        <p:txBody>
          <a:bodyPr wrap="square">
            <a:spAutoFit/>
          </a:bodyPr>
          <a:lstStyle/>
          <a:p>
            <a:pPr algn="l"/>
            <a:r>
              <a:rPr sz="1300" b="1">
                <a:solidFill>
                  <a:srgbClr val="E10600"/>
                </a:solidFill>
                <a:latin typeface="Calibri"/>
              </a:rPr>
              <a:t>SAP OPTION 2</a:t>
            </a:r>
          </a:p>
        </p:txBody>
      </p:sp>
      <p:sp>
        <p:nvSpPr>
          <p:cNvPr id="20" name="TextBox 19"/>
          <p:cNvSpPr txBox="1"/>
          <p:nvPr/>
        </p:nvSpPr>
        <p:spPr>
          <a:xfrm>
            <a:off x="7086600" y="2103120"/>
            <a:ext cx="4480560" cy="3383280"/>
          </a:xfrm>
          <a:prstGeom prst="rect">
            <a:avLst/>
          </a:prstGeom>
          <a:noFill/>
        </p:spPr>
        <p:txBody>
          <a:bodyPr wrap="square">
            <a:spAutoFit/>
          </a:bodyPr>
          <a:lstStyle/>
          <a:p>
            <a:pPr algn="l"/>
            <a:r>
              <a:rPr sz="1600" b="0">
                <a:solidFill>
                  <a:srgbClr val="1C1B1A"/>
                </a:solidFill>
                <a:latin typeface="Calibri"/>
              </a:rPr>
              <a:t>Fits
Sales order, outbound delivery, freight order, service request.
Changed
The internal routing screen waits. This is the customer path.
Does not fit
The billing API cannot create a refund. We confirm it here and link the sales order.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1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E10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11480"/>
            <a:ext cx="5486400" cy="274320"/>
          </a:xfrm>
          <a:prstGeom prst="rect">
            <a:avLst/>
          </a:prstGeom>
          <a:noFill/>
        </p:spPr>
        <p:txBody>
          <a:bodyPr wrap="square">
            <a:spAutoFit/>
          </a:bodyPr>
          <a:lstStyle/>
          <a:p>
            <a:pPr algn="l"/>
            <a:r>
              <a:rPr sz="1400" b="1">
                <a:solidFill>
                  <a:srgbClr val="E10600"/>
                </a:solidFill>
                <a:latin typeface="Calibri"/>
              </a:rPr>
              <a:t>SHOW IT</a:t>
            </a:r>
          </a:p>
        </p:txBody>
      </p:sp>
      <p:sp>
        <p:nvSpPr>
          <p:cNvPr id="5" name="TextBox 4"/>
          <p:cNvSpPr txBox="1"/>
          <p:nvPr/>
        </p:nvSpPr>
        <p:spPr>
          <a:xfrm>
            <a:off x="777240" y="914400"/>
            <a:ext cx="10058400" cy="731520"/>
          </a:xfrm>
          <a:prstGeom prst="rect">
            <a:avLst/>
          </a:prstGeom>
          <a:noFill/>
        </p:spPr>
        <p:txBody>
          <a:bodyPr wrap="square">
            <a:spAutoFit/>
          </a:bodyPr>
          <a:lstStyle/>
          <a:p>
            <a:pPr algn="l"/>
            <a:r>
              <a:rPr sz="4800" b="1">
                <a:solidFill>
                  <a:srgbClr val="FFFFFF"/>
                </a:solidFill>
                <a:latin typeface="Calibri"/>
              </a:rPr>
              <a:t>Order KM185002</a:t>
            </a:r>
          </a:p>
        </p:txBody>
      </p:sp>
      <p:sp>
        <p:nvSpPr>
          <p:cNvPr id="6" name="TextBox 5"/>
          <p:cNvSpPr txBox="1"/>
          <p:nvPr/>
        </p:nvSpPr>
        <p:spPr>
          <a:xfrm>
            <a:off x="777240" y="1828800"/>
            <a:ext cx="9144000" cy="457200"/>
          </a:xfrm>
          <a:prstGeom prst="rect">
            <a:avLst/>
          </a:prstGeom>
          <a:noFill/>
        </p:spPr>
        <p:txBody>
          <a:bodyPr wrap="square">
            <a:spAutoFit/>
          </a:bodyPr>
          <a:lstStyle/>
          <a:p>
            <a:pPr algn="l"/>
            <a:r>
              <a:rPr sz="2000" b="0">
                <a:solidFill>
                  <a:srgbClr val="E6E0D8"/>
                </a:solidFill>
                <a:latin typeface="Calibri"/>
              </a:rPr>
              <a:t>ANKO Storage Box 30L  ·  damaged on delivery  ·  cushion is fine</a:t>
            </a:r>
          </a:p>
        </p:txBody>
      </p:sp>
      <p:sp>
        <p:nvSpPr>
          <p:cNvPr id="7" name="TextBox 6"/>
          <p:cNvSpPr txBox="1"/>
          <p:nvPr/>
        </p:nvSpPr>
        <p:spPr>
          <a:xfrm>
            <a:off x="777240" y="2834640"/>
            <a:ext cx="10058400" cy="502920"/>
          </a:xfrm>
          <a:prstGeom prst="rect">
            <a:avLst/>
          </a:prstGeom>
          <a:noFill/>
        </p:spPr>
        <p:txBody>
          <a:bodyPr wrap="square">
            <a:spAutoFit/>
          </a:bodyPr>
          <a:lstStyle/>
          <a:p>
            <a:pPr algn="l"/>
            <a:r>
              <a:rPr sz="2200" b="0">
                <a:solidFill>
                  <a:srgbClr val="FFFFFF"/>
                </a:solidFill>
                <a:latin typeface="Calibri"/>
              </a:rPr>
              <a:t>1    Open the order. Read the one-sentence status.</a:t>
            </a:r>
          </a:p>
        </p:txBody>
      </p:sp>
      <p:sp>
        <p:nvSpPr>
          <p:cNvPr id="8" name="TextBox 7"/>
          <p:cNvSpPr txBox="1"/>
          <p:nvPr/>
        </p:nvSpPr>
        <p:spPr>
          <a:xfrm>
            <a:off x="777240" y="3474720"/>
            <a:ext cx="10058400" cy="502920"/>
          </a:xfrm>
          <a:prstGeom prst="rect">
            <a:avLst/>
          </a:prstGeom>
          <a:noFill/>
        </p:spPr>
        <p:txBody>
          <a:bodyPr wrap="square">
            <a:spAutoFit/>
          </a:bodyPr>
          <a:lstStyle/>
          <a:p>
            <a:pPr algn="l"/>
            <a:r>
              <a:rPr sz="2200" b="0">
                <a:solidFill>
                  <a:srgbClr val="FFFFFF"/>
                </a:solidFill>
                <a:latin typeface="Calibri"/>
              </a:rPr>
              <a:t>2    Confirm the problem. Keep the recommended replacement.</a:t>
            </a:r>
          </a:p>
        </p:txBody>
      </p:sp>
      <p:sp>
        <p:nvSpPr>
          <p:cNvPr id="9" name="TextBox 8"/>
          <p:cNvSpPr txBox="1"/>
          <p:nvPr/>
        </p:nvSpPr>
        <p:spPr>
          <a:xfrm>
            <a:off x="777240" y="4114800"/>
            <a:ext cx="10058400" cy="502920"/>
          </a:xfrm>
          <a:prstGeom prst="rect">
            <a:avLst/>
          </a:prstGeom>
          <a:noFill/>
        </p:spPr>
        <p:txBody>
          <a:bodyPr wrap="square">
            <a:spAutoFit/>
          </a:bodyPr>
          <a:lstStyle/>
          <a:p>
            <a:pPr algn="l"/>
            <a:r>
              <a:rPr sz="2200" b="0">
                <a:solidFill>
                  <a:srgbClr val="FFFFFF"/>
                </a:solidFill>
                <a:latin typeface="Calibri"/>
              </a:rPr>
              <a:t>3    Check for an update until the case is ready.</a:t>
            </a:r>
          </a:p>
        </p:txBody>
      </p:sp>
      <p:sp>
        <p:nvSpPr>
          <p:cNvPr id="10" name="TextBox 9"/>
          <p:cNvSpPr txBox="1"/>
          <p:nvPr/>
        </p:nvSpPr>
        <p:spPr>
          <a:xfrm>
            <a:off x="777240" y="4754879"/>
            <a:ext cx="10058400" cy="502920"/>
          </a:xfrm>
          <a:prstGeom prst="rect">
            <a:avLst/>
          </a:prstGeom>
          <a:noFill/>
        </p:spPr>
        <p:txBody>
          <a:bodyPr wrap="square">
            <a:spAutoFit/>
          </a:bodyPr>
          <a:lstStyle/>
          <a:p>
            <a:pPr algn="l"/>
            <a:r>
              <a:rPr sz="2200" b="0">
                <a:solidFill>
                  <a:srgbClr val="FFFFFF"/>
                </a:solidFill>
                <a:latin typeface="Calibri"/>
              </a:rPr>
              <a:t>4    Confirm. Show the SAP service request.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10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10528"/>
            <a:ext cx="7315200" cy="256032"/>
          </a:xfrm>
          <a:prstGeom prst="rect">
            <a:avLst/>
          </a:prstGeom>
          <a:noFill/>
        </p:spPr>
        <p:txBody>
          <a:bodyPr wrap="square">
            <a:spAutoFit/>
          </a:bodyPr>
          <a:lstStyle/>
          <a:p>
            <a:pPr algn="l"/>
            <a:r>
              <a:rPr sz="1200" b="0">
                <a:solidFill>
                  <a:srgbClr val="5E5A55"/>
                </a:solidFill>
                <a:latin typeface="Calibri"/>
              </a:rPr>
              <a:t>Kmart Delivery Assist  ·  Managing Director</a:t>
            </a:r>
          </a:p>
        </p:txBody>
      </p:sp>
      <p:sp>
        <p:nvSpPr>
          <p:cNvPr id="5" name="TextBox 4"/>
          <p:cNvSpPr txBox="1"/>
          <p:nvPr/>
        </p:nvSpPr>
        <p:spPr>
          <a:xfrm>
            <a:off x="9509760" y="6510528"/>
            <a:ext cx="2194560" cy="256032"/>
          </a:xfrm>
          <a:prstGeom prst="rect">
            <a:avLst/>
          </a:prstGeom>
          <a:noFill/>
        </p:spPr>
        <p:txBody>
          <a:bodyPr wrap="square">
            <a:spAutoFit/>
          </a:bodyPr>
          <a:lstStyle/>
          <a:p>
            <a:pPr algn="r"/>
            <a:r>
              <a:rPr sz="1200" b="0">
                <a:solidFill>
                  <a:srgbClr val="5E5A55"/>
                </a:solidFill>
                <a:latin typeface="Calibri"/>
              </a:rPr>
              <a:t>8  /  9</a:t>
            </a:r>
          </a:p>
        </p:txBody>
      </p:sp>
      <p:sp>
        <p:nvSpPr>
          <p:cNvPr id="6" name="TextBox 5"/>
          <p:cNvSpPr txBox="1"/>
          <p:nvPr/>
        </p:nvSpPr>
        <p:spPr>
          <a:xfrm>
            <a:off x="502920" y="320040"/>
            <a:ext cx="3657600" cy="274320"/>
          </a:xfrm>
          <a:prstGeom prst="rect">
            <a:avLst/>
          </a:prstGeom>
          <a:noFill/>
        </p:spPr>
        <p:txBody>
          <a:bodyPr wrap="square">
            <a:spAutoFit/>
          </a:bodyPr>
          <a:lstStyle/>
          <a:p>
            <a:pPr algn="l"/>
            <a:r>
              <a:rPr sz="1400" b="1">
                <a:solidFill>
                  <a:srgbClr val="E10600"/>
                </a:solidFill>
                <a:latin typeface="Calibri"/>
              </a:rPr>
              <a:t>THE ASK</a:t>
            </a:r>
          </a:p>
        </p:txBody>
      </p:sp>
      <p:sp>
        <p:nvSpPr>
          <p:cNvPr id="7" name="TextBox 6"/>
          <p:cNvSpPr txBox="1"/>
          <p:nvPr/>
        </p:nvSpPr>
        <p:spPr>
          <a:xfrm>
            <a:off x="502920" y="731520"/>
            <a:ext cx="10972800" cy="1097280"/>
          </a:xfrm>
          <a:prstGeom prst="rect">
            <a:avLst/>
          </a:prstGeom>
          <a:noFill/>
        </p:spPr>
        <p:txBody>
          <a:bodyPr wrap="square">
            <a:spAutoFit/>
          </a:bodyPr>
          <a:lstStyle/>
          <a:p>
            <a:pPr algn="l"/>
            <a:r>
              <a:rPr sz="3400" b="1">
                <a:solidFill>
                  <a:srgbClr val="1C1B1A"/>
                </a:solidFill>
                <a:latin typeface="Calibri"/>
              </a:rPr>
              <a:t>Use this as the customer face
of exception recovery.</a:t>
            </a:r>
          </a:p>
        </p:txBody>
      </p:sp>
      <p:sp>
        <p:nvSpPr>
          <p:cNvPr id="8" name="TextBox 7"/>
          <p:cNvSpPr txBox="1"/>
          <p:nvPr/>
        </p:nvSpPr>
        <p:spPr>
          <a:xfrm>
            <a:off x="502920" y="2468880"/>
            <a:ext cx="2194560" cy="640080"/>
          </a:xfrm>
          <a:prstGeom prst="rect">
            <a:avLst/>
          </a:prstGeom>
          <a:noFill/>
        </p:spPr>
        <p:txBody>
          <a:bodyPr wrap="square">
            <a:spAutoFit/>
          </a:bodyPr>
          <a:lstStyle/>
          <a:p>
            <a:pPr algn="l"/>
            <a:r>
              <a:rPr sz="2200" b="1">
                <a:solidFill>
                  <a:srgbClr val="E10600"/>
                </a:solidFill>
                <a:latin typeface="Calibri"/>
              </a:rPr>
              <a:t>Today</a:t>
            </a:r>
          </a:p>
        </p:txBody>
      </p:sp>
      <p:sp>
        <p:nvSpPr>
          <p:cNvPr id="9" name="TextBox 8"/>
          <p:cNvSpPr txBox="1"/>
          <p:nvPr/>
        </p:nvSpPr>
        <p:spPr>
          <a:xfrm>
            <a:off x="2834640" y="2468880"/>
            <a:ext cx="8503920" cy="822960"/>
          </a:xfrm>
          <a:prstGeom prst="rect">
            <a:avLst/>
          </a:prstGeom>
          <a:noFill/>
        </p:spPr>
        <p:txBody>
          <a:bodyPr wrap="square">
            <a:spAutoFit/>
          </a:bodyPr>
          <a:lstStyle/>
          <a:p>
            <a:pPr algn="l"/>
            <a:r>
              <a:rPr sz="2200" b="0">
                <a:solidFill>
                  <a:srgbClr val="1C1B1A"/>
                </a:solidFill>
                <a:latin typeface="Calibri"/>
              </a:rPr>
              <a:t>A customer can finish a damaged, missed or missing delivery without a call.</a:t>
            </a:r>
          </a:p>
        </p:txBody>
      </p:sp>
      <p:sp>
        <p:nvSpPr>
          <p:cNvPr id="10" name="TextBox 9"/>
          <p:cNvSpPr txBox="1"/>
          <p:nvPr/>
        </p:nvSpPr>
        <p:spPr>
          <a:xfrm>
            <a:off x="502920" y="3611880"/>
            <a:ext cx="2194560" cy="640080"/>
          </a:xfrm>
          <a:prstGeom prst="rect">
            <a:avLst/>
          </a:prstGeom>
          <a:noFill/>
        </p:spPr>
        <p:txBody>
          <a:bodyPr wrap="square">
            <a:spAutoFit/>
          </a:bodyPr>
          <a:lstStyle/>
          <a:p>
            <a:pPr algn="l"/>
            <a:r>
              <a:rPr sz="2200" b="1">
                <a:solidFill>
                  <a:srgbClr val="E10600"/>
                </a:solidFill>
                <a:latin typeface="Calibri"/>
              </a:rPr>
              <a:t>Next</a:t>
            </a:r>
          </a:p>
        </p:txBody>
      </p:sp>
      <p:sp>
        <p:nvSpPr>
          <p:cNvPr id="11" name="TextBox 10"/>
          <p:cNvSpPr txBox="1"/>
          <p:nvPr/>
        </p:nvSpPr>
        <p:spPr>
          <a:xfrm>
            <a:off x="2834640" y="3611880"/>
            <a:ext cx="8503920" cy="822960"/>
          </a:xfrm>
          <a:prstGeom prst="rect">
            <a:avLst/>
          </a:prstGeom>
          <a:noFill/>
        </p:spPr>
        <p:txBody>
          <a:bodyPr wrap="square">
            <a:spAutoFit/>
          </a:bodyPr>
          <a:lstStyle/>
          <a:p>
            <a:pPr algn="l"/>
            <a:r>
              <a:rPr sz="2200" b="0">
                <a:solidFill>
                  <a:srgbClr val="1C1B1A"/>
                </a:solidFill>
                <a:latin typeface="Calibri"/>
              </a:rPr>
              <a:t>The decision-data foundation and routing automation stay on the programme, behind shadow evidence.</a:t>
            </a:r>
          </a:p>
        </p:txBody>
      </p:sp>
      <p:sp>
        <p:nvSpPr>
          <p:cNvPr id="12" name="TextBox 11"/>
          <p:cNvSpPr txBox="1"/>
          <p:nvPr/>
        </p:nvSpPr>
        <p:spPr>
          <a:xfrm>
            <a:off x="502920" y="4754880"/>
            <a:ext cx="2194560" cy="640080"/>
          </a:xfrm>
          <a:prstGeom prst="rect">
            <a:avLst/>
          </a:prstGeom>
          <a:noFill/>
        </p:spPr>
        <p:txBody>
          <a:bodyPr wrap="square">
            <a:spAutoFit/>
          </a:bodyPr>
          <a:lstStyle/>
          <a:p>
            <a:pPr algn="l"/>
            <a:r>
              <a:rPr sz="2200" b="1">
                <a:solidFill>
                  <a:srgbClr val="E10600"/>
                </a:solidFill>
                <a:latin typeface="Calibri"/>
              </a:rPr>
              <a:t>Guardrail</a:t>
            </a:r>
          </a:p>
        </p:txBody>
      </p:sp>
      <p:sp>
        <p:nvSpPr>
          <p:cNvPr id="13" name="TextBox 12"/>
          <p:cNvSpPr txBox="1"/>
          <p:nvPr/>
        </p:nvSpPr>
        <p:spPr>
          <a:xfrm>
            <a:off x="2834640" y="4754880"/>
            <a:ext cx="8503920" cy="822960"/>
          </a:xfrm>
          <a:prstGeom prst="rect">
            <a:avLst/>
          </a:prstGeom>
          <a:noFill/>
        </p:spPr>
        <p:txBody>
          <a:bodyPr wrap="square">
            <a:spAutoFit/>
          </a:bodyPr>
          <a:lstStyle/>
          <a:p>
            <a:pPr algn="l"/>
            <a:r>
              <a:rPr sz="2200" b="0">
                <a:solidFill>
                  <a:srgbClr val="1C1B1A"/>
                </a:solidFill>
                <a:latin typeface="Calibri"/>
              </a:rPr>
              <a:t>A refund is explicit. A healthy order is not turned into a case.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E10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82880"/>
            <a:ext cx="11430000" cy="365760"/>
          </a:xfrm>
          <a:prstGeom prst="rect">
            <a:avLst/>
          </a:prstGeom>
          <a:noFill/>
        </p:spPr>
        <p:txBody>
          <a:bodyPr wrap="square">
            <a:spAutoFit/>
          </a:bodyPr>
          <a:lstStyle/>
          <a:p>
            <a:pPr algn="l"/>
            <a:r>
              <a:rPr sz="2200" b="1">
                <a:solidFill>
                  <a:srgbClr val="1C1B1A"/>
                </a:solidFill>
                <a:latin typeface="Calibri"/>
              </a:rPr>
              <a:t>GROUPWORK MANAGEMENT DISCLAIMER</a:t>
            </a:r>
          </a:p>
        </p:txBody>
      </p:sp>
      <p:sp>
        <p:nvSpPr>
          <p:cNvPr id="5" name="TextBox 4"/>
          <p:cNvSpPr txBox="1"/>
          <p:nvPr/>
        </p:nvSpPr>
        <p:spPr>
          <a:xfrm>
            <a:off x="365760" y="594360"/>
            <a:ext cx="11430000" cy="777240"/>
          </a:xfrm>
          <a:prstGeom prst="rect">
            <a:avLst/>
          </a:prstGeom>
          <a:noFill/>
        </p:spPr>
        <p:txBody>
          <a:bodyPr wrap="square">
            <a:spAutoFit/>
          </a:bodyPr>
          <a:lstStyle/>
          <a:p>
            <a:pPr algn="l"/>
            <a:r>
              <a:rPr sz="1300" b="0">
                <a:solidFill>
                  <a:srgbClr val="1C1B1A"/>
                </a:solidFill>
                <a:latin typeface="Calibri"/>
              </a:rPr>
              <a:t>We take equal contribution in groupwork seriously, and marks may be deducted where there is a significant inequality in the team’s contribution. In the following table, state each group member’s contribution* to this assignment. You may also include any comments to support the % contribution indicated on the table.</a:t>
            </a:r>
          </a:p>
        </p:txBody>
      </p:sp>
      <p:sp>
        <p:nvSpPr>
          <p:cNvPr id="6" name="TextBox 5"/>
          <p:cNvSpPr txBox="1"/>
          <p:nvPr/>
        </p:nvSpPr>
        <p:spPr>
          <a:xfrm>
            <a:off x="365760" y="1371600"/>
            <a:ext cx="11430000" cy="320040"/>
          </a:xfrm>
          <a:prstGeom prst="rect">
            <a:avLst/>
          </a:prstGeom>
          <a:noFill/>
        </p:spPr>
        <p:txBody>
          <a:bodyPr wrap="square">
            <a:spAutoFit/>
          </a:bodyPr>
          <a:lstStyle/>
          <a:p>
            <a:pPr algn="l"/>
            <a:r>
              <a:rPr sz="1200" b="0">
                <a:solidFill>
                  <a:srgbClr val="5E5A55"/>
                </a:solidFill>
                <a:latin typeface="Calibri"/>
              </a:rPr>
              <a:t>*No contribution to the deliverable may result in a deduction of marks in the group assignment.</a:t>
            </a:r>
          </a:p>
        </p:txBody>
      </p:sp>
      <p:graphicFrame>
        <p:nvGraphicFramePr>
          <p:cNvPr id="7" name="Table 6"/>
          <p:cNvGraphicFramePr>
            <a:graphicFrameLocks noGrp="1"/>
          </p:cNvGraphicFramePr>
          <p:nvPr/>
        </p:nvGraphicFramePr>
        <p:xfrm>
          <a:off x="365760" y="1783080"/>
          <a:ext cx="11430000" cy="1554480"/>
        </p:xfrm>
        <a:graphic>
          <a:graphicData uri="http://schemas.openxmlformats.org/drawingml/2006/table">
            <a:tbl>
              <a:tblPr firstRow="1" bandRow="1">
                <a:tableStyleId>{5C22544A-7EE6-4342-B048-85BDC9FD1C3A}</a:tableStyleId>
              </a:tblPr>
              <a:tblGrid>
                <a:gridCol w="2103120"/>
                <a:gridCol w="2331720"/>
                <a:gridCol w="2331720"/>
                <a:gridCol w="2331720"/>
                <a:gridCol w="2331720"/>
              </a:tblGrid>
              <a:tr h="388620">
                <a:tc>
                  <a:txBody>
                    <a:bodyPr/>
                    <a:lstStyle/>
                    <a:p>
                      <a:pPr algn="l"/>
                      <a:r>
                        <a:rPr sz="1200" b="1">
                          <a:solidFill>
                            <a:srgbClr val="FFFFFF"/>
                          </a:solidFill>
                          <a:latin typeface="Calibri"/>
                        </a:rPr>
                        <a:t>GROUP MEMBER</a:t>
                      </a:r>
                    </a:p>
                  </a:txBody>
                  <a:tcPr anchor="ctr">
                    <a:solidFill>
                      <a:srgbClr val="E10600"/>
                    </a:solidFill>
                  </a:tcPr>
                </a:tc>
                <a:tc>
                  <a:txBody>
                    <a:bodyPr/>
                    <a:lstStyle/>
                    <a:p>
                      <a:pPr algn="ctr"/>
                      <a:r>
                        <a:rPr sz="1200" b="1">
                          <a:solidFill>
                            <a:srgbClr val="FFFFFF"/>
                          </a:solidFill>
                          <a:latin typeface="Calibri"/>
                        </a:rPr>
                        <a:t>Dingchen Yuan</a:t>
                      </a:r>
                    </a:p>
                  </a:txBody>
                  <a:tcPr anchor="ctr">
                    <a:solidFill>
                      <a:srgbClr val="E10600"/>
                    </a:solidFill>
                  </a:tcPr>
                </a:tc>
                <a:tc>
                  <a:txBody>
                    <a:bodyPr/>
                    <a:lstStyle/>
                    <a:p>
                      <a:pPr algn="ctr"/>
                      <a:r>
                        <a:rPr sz="1200" b="1">
                          <a:solidFill>
                            <a:srgbClr val="FFFFFF"/>
                          </a:solidFill>
                          <a:latin typeface="Calibri"/>
                        </a:rPr>
                        <a:t>Taariq Mohamed</a:t>
                      </a:r>
                    </a:p>
                  </a:txBody>
                  <a:tcPr anchor="ctr">
                    <a:solidFill>
                      <a:srgbClr val="E10600"/>
                    </a:solidFill>
                  </a:tcPr>
                </a:tc>
                <a:tc>
                  <a:txBody>
                    <a:bodyPr/>
                    <a:lstStyle/>
                    <a:p>
                      <a:pPr algn="ctr"/>
                      <a:r>
                        <a:rPr sz="1200" b="1">
                          <a:solidFill>
                            <a:srgbClr val="FFFFFF"/>
                          </a:solidFill>
                          <a:latin typeface="Calibri"/>
                        </a:rPr>
                        <a:t>Huy Nguyen</a:t>
                      </a:r>
                    </a:p>
                  </a:txBody>
                  <a:tcPr anchor="ctr">
                    <a:solidFill>
                      <a:srgbClr val="E10600"/>
                    </a:solidFill>
                  </a:tcPr>
                </a:tc>
                <a:tc>
                  <a:txBody>
                    <a:bodyPr/>
                    <a:lstStyle/>
                    <a:p>
                      <a:pPr algn="ctr"/>
                      <a:r>
                        <a:rPr sz="1200" b="1">
                          <a:solidFill>
                            <a:srgbClr val="FFFFFF"/>
                          </a:solidFill>
                          <a:latin typeface="Calibri"/>
                        </a:rPr>
                        <a:t>Total</a:t>
                      </a:r>
                    </a:p>
                  </a:txBody>
                  <a:tcPr anchor="ctr">
                    <a:solidFill>
                      <a:srgbClr val="E10600"/>
                    </a:solidFill>
                  </a:tcPr>
                </a:tc>
              </a:tr>
              <a:tr h="388620">
                <a:tc>
                  <a:txBody>
                    <a:bodyPr/>
                    <a:lstStyle/>
                    <a:p>
                      <a:pPr algn="l"/>
                      <a:r>
                        <a:rPr sz="1200" b="1">
                          <a:solidFill>
                            <a:srgbClr val="1C1B1A"/>
                          </a:solidFill>
                          <a:latin typeface="Calibri"/>
                        </a:rPr>
                        <a:t>UPI</a:t>
                      </a:r>
                    </a:p>
                  </a:txBody>
                  <a:tcPr anchor="ctr">
                    <a:solidFill>
                      <a:srgbClr val="FFFFFF"/>
                    </a:solidFill>
                  </a:tcPr>
                </a:tc>
                <a:tc>
                  <a:txBody>
                    <a:bodyPr/>
                    <a:lstStyle/>
                    <a:p>
                      <a:pPr algn="ctr"/>
                    </a:p>
                  </a:txBody>
                  <a:tcPr anchor="ctr">
                    <a:solidFill>
                      <a:srgbClr val="FFFFFF"/>
                    </a:solidFill>
                  </a:tcPr>
                </a:tc>
                <a:tc>
                  <a:txBody>
                    <a:bodyPr/>
                    <a:lstStyle/>
                    <a:p>
                      <a:pPr algn="ctr"/>
                    </a:p>
                  </a:txBody>
                  <a:tcPr anchor="ctr">
                    <a:solidFill>
                      <a:srgbClr val="FFFFFF"/>
                    </a:solidFill>
                  </a:tcPr>
                </a:tc>
                <a:tc>
                  <a:txBody>
                    <a:bodyPr/>
                    <a:lstStyle/>
                    <a:p>
                      <a:pPr algn="ctr"/>
                    </a:p>
                  </a:txBody>
                  <a:tcPr anchor="ctr">
                    <a:solidFill>
                      <a:srgbClr val="FFFFFF"/>
                    </a:solidFill>
                  </a:tcPr>
                </a:tc>
                <a:tc>
                  <a:txBody>
                    <a:bodyPr/>
                    <a:lstStyle/>
                    <a:p>
                      <a:pPr algn="ctr"/>
                    </a:p>
                  </a:txBody>
                  <a:tcPr anchor="ctr">
                    <a:solidFill>
                      <a:srgbClr val="FFFFFF"/>
                    </a:solidFill>
                  </a:tcPr>
                </a:tc>
              </a:tr>
              <a:tr h="388620">
                <a:tc>
                  <a:txBody>
                    <a:bodyPr/>
                    <a:lstStyle/>
                    <a:p>
                      <a:pPr algn="l"/>
                      <a:r>
                        <a:rPr sz="1200" b="1">
                          <a:solidFill>
                            <a:srgbClr val="1C1B1A"/>
                          </a:solidFill>
                          <a:latin typeface="Calibri"/>
                        </a:rPr>
                        <a:t>% Contribution</a:t>
                      </a:r>
                    </a:p>
                  </a:txBody>
                  <a:tcPr anchor="ctr">
                    <a:solidFill>
                      <a:srgbClr val="F6F3EF"/>
                    </a:solidFill>
                  </a:tcPr>
                </a:tc>
                <a:tc>
                  <a:txBody>
                    <a:bodyPr/>
                    <a:lstStyle/>
                    <a:p>
                      <a:pPr algn="ctr"/>
                      <a:r>
                        <a:rPr sz="1200" b="0">
                          <a:solidFill>
                            <a:srgbClr val="1C1B1A"/>
                          </a:solidFill>
                          <a:latin typeface="Calibri"/>
                        </a:rPr>
                        <a:t>34%</a:t>
                      </a:r>
                    </a:p>
                  </a:txBody>
                  <a:tcPr anchor="ctr">
                    <a:solidFill>
                      <a:srgbClr val="F6F3EF"/>
                    </a:solidFill>
                  </a:tcPr>
                </a:tc>
                <a:tc>
                  <a:txBody>
                    <a:bodyPr/>
                    <a:lstStyle/>
                    <a:p>
                      <a:pPr algn="ctr"/>
                      <a:r>
                        <a:rPr sz="1200" b="0">
                          <a:solidFill>
                            <a:srgbClr val="1C1B1A"/>
                          </a:solidFill>
                          <a:latin typeface="Calibri"/>
                        </a:rPr>
                        <a:t>33%</a:t>
                      </a:r>
                    </a:p>
                  </a:txBody>
                  <a:tcPr anchor="ctr">
                    <a:solidFill>
                      <a:srgbClr val="F6F3EF"/>
                    </a:solidFill>
                  </a:tcPr>
                </a:tc>
                <a:tc>
                  <a:txBody>
                    <a:bodyPr/>
                    <a:lstStyle/>
                    <a:p>
                      <a:pPr algn="ctr"/>
                      <a:r>
                        <a:rPr sz="1200" b="0">
                          <a:solidFill>
                            <a:srgbClr val="1C1B1A"/>
                          </a:solidFill>
                          <a:latin typeface="Calibri"/>
                        </a:rPr>
                        <a:t>33%</a:t>
                      </a:r>
                    </a:p>
                  </a:txBody>
                  <a:tcPr anchor="ctr">
                    <a:solidFill>
                      <a:srgbClr val="F6F3EF"/>
                    </a:solidFill>
                  </a:tcPr>
                </a:tc>
                <a:tc>
                  <a:txBody>
                    <a:bodyPr/>
                    <a:lstStyle/>
                    <a:p>
                      <a:pPr algn="ctr"/>
                      <a:r>
                        <a:rPr sz="1200" b="0">
                          <a:solidFill>
                            <a:srgbClr val="1C1B1A"/>
                          </a:solidFill>
                          <a:latin typeface="Calibri"/>
                        </a:rPr>
                        <a:t>100%</a:t>
                      </a:r>
                    </a:p>
                  </a:txBody>
                  <a:tcPr anchor="ctr">
                    <a:solidFill>
                      <a:srgbClr val="F6F3EF"/>
                    </a:solidFill>
                  </a:tcPr>
                </a:tc>
              </a:tr>
              <a:tr h="388620">
                <a:tc>
                  <a:txBody>
                    <a:bodyPr/>
                    <a:lstStyle/>
                    <a:p>
                      <a:pPr algn="l"/>
                      <a:r>
                        <a:rPr sz="1200" b="1">
                          <a:solidFill>
                            <a:srgbClr val="1C1B1A"/>
                          </a:solidFill>
                          <a:latin typeface="Calibri"/>
                        </a:rPr>
                        <a:t>Comments</a:t>
                      </a:r>
                    </a:p>
                  </a:txBody>
                  <a:tcPr anchor="ctr">
                    <a:solidFill>
                      <a:srgbClr val="FFFFFF"/>
                    </a:solidFill>
                  </a:tcPr>
                </a:tc>
                <a:tc>
                  <a:txBody>
                    <a:bodyPr/>
                    <a:lstStyle/>
                    <a:p>
                      <a:pPr algn="ctr"/>
                      <a:r>
                        <a:rPr sz="1200" b="0">
                          <a:solidFill>
                            <a:srgbClr val="1C1B1A"/>
                          </a:solidFill>
                          <a:latin typeface="Calibri"/>
                        </a:rPr>
                        <a:t>Equal split</a:t>
                      </a:r>
                    </a:p>
                  </a:txBody>
                  <a:tcPr anchor="ctr">
                    <a:solidFill>
                      <a:srgbClr val="FFFFFF"/>
                    </a:solidFill>
                  </a:tcPr>
                </a:tc>
                <a:tc>
                  <a:txBody>
                    <a:bodyPr/>
                    <a:lstStyle/>
                    <a:p>
                      <a:pPr algn="ctr"/>
                      <a:r>
                        <a:rPr sz="1200" b="0">
                          <a:solidFill>
                            <a:srgbClr val="1C1B1A"/>
                          </a:solidFill>
                          <a:latin typeface="Calibri"/>
                        </a:rPr>
                        <a:t>Equal split</a:t>
                      </a:r>
                    </a:p>
                  </a:txBody>
                  <a:tcPr anchor="ctr">
                    <a:solidFill>
                      <a:srgbClr val="FFFFFF"/>
                    </a:solidFill>
                  </a:tcPr>
                </a:tc>
                <a:tc>
                  <a:txBody>
                    <a:bodyPr/>
                    <a:lstStyle/>
                    <a:p>
                      <a:pPr algn="ctr"/>
                      <a:r>
                        <a:rPr sz="1200" b="0">
                          <a:solidFill>
                            <a:srgbClr val="1C1B1A"/>
                          </a:solidFill>
                          <a:latin typeface="Calibri"/>
                        </a:rPr>
                        <a:t>Equal split</a:t>
                      </a:r>
                    </a:p>
                  </a:txBody>
                  <a:tcPr anchor="ctr">
                    <a:solidFill>
                      <a:srgbClr val="FFFFFF"/>
                    </a:solidFill>
                  </a:tcPr>
                </a:tc>
                <a:tc>
                  <a:txBody>
                    <a:bodyPr/>
                    <a:lstStyle/>
                    <a:p>
                      <a:pPr algn="ctr"/>
                      <a:r>
                        <a:rPr sz="1200" b="0">
                          <a:solidFill>
                            <a:srgbClr val="1C1B1A"/>
                          </a:solidFill>
                          <a:latin typeface="Calibri"/>
                        </a:rPr>
                        <a:t>Rounding</a:t>
                      </a:r>
                    </a:p>
                  </a:txBody>
                  <a:tcPr anchor="ctr">
                    <a:solidFill>
                      <a:srgbClr val="FFFFFF"/>
                    </a:solidFill>
                  </a:tcPr>
                </a:tc>
              </a:tr>
            </a:tbl>
          </a:graphicData>
        </a:graphic>
      </p:graphicFrame>
      <p:sp>
        <p:nvSpPr>
          <p:cNvPr id="8" name="TextBox 7"/>
          <p:cNvSpPr txBox="1"/>
          <p:nvPr/>
        </p:nvSpPr>
        <p:spPr>
          <a:xfrm>
            <a:off x="365760" y="3520440"/>
            <a:ext cx="11430000" cy="1051560"/>
          </a:xfrm>
          <a:prstGeom prst="rect">
            <a:avLst/>
          </a:prstGeom>
          <a:noFill/>
        </p:spPr>
        <p:txBody>
          <a:bodyPr wrap="square">
            <a:spAutoFit/>
          </a:bodyPr>
          <a:lstStyle/>
          <a:p>
            <a:pPr algn="l"/>
            <a:r>
              <a:rPr sz="1300" b="0">
                <a:solidFill>
                  <a:srgbClr val="1C1B1A"/>
                </a:solidFill>
                <a:latin typeface="Calibri"/>
              </a:rPr>
              <a:t>Criteria explanation:
1. UPI: Enter each team member’s UPI before upload. The cells above are intentionally blank.
2. % Contribution: Enter a percentage for each member. The figures must add up to 100%.
3. Comments (optional): Add a comment where the percentage needs context.</a:t>
            </a:r>
          </a:p>
        </p:txBody>
      </p:sp>
      <p:sp>
        <p:nvSpPr>
          <p:cNvPr id="9" name="TextBox 8"/>
          <p:cNvSpPr txBox="1"/>
          <p:nvPr/>
        </p:nvSpPr>
        <p:spPr>
          <a:xfrm>
            <a:off x="365760" y="4709160"/>
            <a:ext cx="11430000" cy="1554480"/>
          </a:xfrm>
          <a:prstGeom prst="rect">
            <a:avLst/>
          </a:prstGeom>
          <a:noFill/>
        </p:spPr>
        <p:txBody>
          <a:bodyPr wrap="square">
            <a:spAutoFit/>
          </a:bodyPr>
          <a:lstStyle/>
          <a:p>
            <a:pPr algn="l"/>
            <a:r>
              <a:rPr sz="1400" b="0">
                <a:solidFill>
                  <a:srgbClr val="5E5A55"/>
                </a:solidFill>
                <a:latin typeface="Calibri"/>
              </a:rPr>
              <a:t>The 34 / 33 / 33 split is an equal contribution with one percent for rounding. Confirm it with the group before submission. Replace the comment text if the group agrees a different split.
Helix delivery names on the business-case slides are unchanged: Dingchen Yuan, Taariq Mohamed, Huy Nguyen.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Kmart Delivery Assist</dc:title>
  <dc:subject>INFOSYS 704 Lab 12 prototype pitch</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